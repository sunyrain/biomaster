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324" r:id="rId3"/>
    <p:sldId id="269" r:id="rId5"/>
    <p:sldId id="276" r:id="rId6"/>
    <p:sldId id="277" r:id="rId7"/>
    <p:sldId id="278" r:id="rId8"/>
    <p:sldId id="303" r:id="rId9"/>
    <p:sldId id="325" r:id="rId10"/>
    <p:sldId id="326" r:id="rId11"/>
    <p:sldId id="328" r:id="rId12"/>
    <p:sldId id="304" r:id="rId13"/>
    <p:sldId id="296" r:id="rId14"/>
    <p:sldId id="280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FB2"/>
    <a:srgbClr val="004E98"/>
    <a:srgbClr val="FFFFFF"/>
    <a:srgbClr val="C30C0C"/>
    <a:srgbClr val="9BD8B7"/>
    <a:srgbClr val="99D7B5"/>
    <a:srgbClr val="A1C4E8"/>
    <a:srgbClr val="D3ECFF"/>
    <a:srgbClr val="EDF7FF"/>
    <a:srgbClr val="6AA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835" autoAdjust="0"/>
  </p:normalViewPr>
  <p:slideViewPr>
    <p:cSldViewPr snapToGrid="0" showGuides="1">
      <p:cViewPr varScale="1">
        <p:scale>
          <a:sx n="98" d="100"/>
          <a:sy n="98" d="100"/>
        </p:scale>
        <p:origin x="108" y="78"/>
      </p:cViewPr>
      <p:guideLst>
        <p:guide orient="horz" pos="2122"/>
        <p:guide pos="38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1E473-3267-4F04-BA4B-FBBA48E5A7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FDC1A-2693-4E65-8970-A779D2153E7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E05E3-772F-47C2-9378-4B1C4C3D6A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两种已获FDA批准的抗癌药物——来曲唑（Letrozole）和伊立替康（Irinotecan）联合使用，可显著改善AD小鼠的记忆功能，并减轻病理特征</a:t>
            </a:r>
            <a:endParaRPr lang="en-US" altLang="zh-CN" dirty="0"/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、每种脑细胞在阿尔茨海默病中都有不同的异常基因表达模式；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2、若能找到药物，使这些细胞的基因表达“反向调节”，就可能从系统层面纠正大脑网络的平衡。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团队以人类脑组织单核RNA测序（snRNA-seq）为基础，整合了来自3个独立队列的AD样本，涵盖6类脑细胞：神经元（兴奋性、抑制性）、星形胶质、少突胶质、少突前体细胞、小胶质细胞。经算法整合与批次效应校正后，他们建立了细胞类型特异的阿尔茨海默分子图谱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接下来，研究者利用Connectivity Map（CMap）数据库，将这些“疾病表达谱”与药物诱导的基因表达变化进行比对，目标是找到能“反向纠正”阿尔茨海默异常转录模式的药物。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AI分析显示：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Letrozole 对神经元（兴奋性与抑制性）异常基因谱具有显著逆转作用；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Irinotecan 对星形胶质细胞、少突前体细胞、小胶质细胞的异常基因表达逆转效果最强。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两药分别针对“神经元轴”与“胶质轴”，组合后能实现多细胞层面的网络纠错。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+mn-ea"/>
                <a:sym typeface="+mn-ea"/>
              </a:rPr>
              <a:t>通过数据驱动替代经验直觉、系统预测替代个案发现、多模态整合替代单一实验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已有明确药物机制记录的蛋白，而不是全部人类蛋白，也不是全部理论可成药蛋白。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已有明确药物机制记录的蛋白，而不是全部人类蛋白，也不是全部理论可成药蛋白。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recreation of provided architecture image. Text has been rebuilt as editable PowerPoint text boxes; icons are reused as cropped images; connectors and panels are editable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sym typeface="+mn-ea"/>
              </a:rPr>
              <a:t>选择</a:t>
            </a:r>
            <a:r>
              <a:rPr lang="en-US" altLang="zh-CN" dirty="0" err="1">
                <a:highlight>
                  <a:srgbClr val="FFFF00"/>
                </a:highlight>
                <a:sym typeface="+mn-ea"/>
              </a:rPr>
              <a:t>ConPLEx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的依据：基于序列、快速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……</a:t>
            </a:r>
            <a:endParaRPr lang="zh-CN" altLang="en-US" dirty="0">
              <a:highlight>
                <a:srgbClr val="FFFF00"/>
              </a:highlight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ED8D6-363D-4BDC-912C-565B00163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8DF18-A4A6-4B54-969A-C2BE3E494A0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8442-94D3-4AA0-8FD4-1F5416368CC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14EC-F73F-4C84-AED5-31B41251344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2E84-4210-48B2-BF2E-415AF9ED5F6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94AB-42FE-475B-9F8D-2511BFE8E9F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4341-4DF0-4DED-8ECE-57295490B10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F9F3-7461-4513-B78F-711D0C4449C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6CFD-C907-4F9B-A1BF-993DFC9F54F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D53F-9601-435A-B63E-DFADDE3AF2C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E17A-4325-4CB6-9529-61F887DCE9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F196-3C67-49F0-8DB2-560C6C09A1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A5B79-064D-4BD0-8023-DDD47C92268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0.png"/><Relationship Id="rId7" Type="http://schemas.openxmlformats.org/officeDocument/2006/relationships/image" Target="../media/image1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024787" y="2736304"/>
            <a:ext cx="4748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004E98"/>
                </a:solidFill>
                <a:latin typeface="+mj-ea"/>
                <a:ea typeface="+mj-ea"/>
              </a:rPr>
              <a:t>AI</a:t>
            </a:r>
            <a:r>
              <a:rPr lang="zh-CN" altLang="en-US" sz="4400" b="1" dirty="0">
                <a:solidFill>
                  <a:srgbClr val="004E98"/>
                </a:solidFill>
                <a:latin typeface="+mj-ea"/>
                <a:ea typeface="+mj-ea"/>
              </a:rPr>
              <a:t>生物学小组汇报</a:t>
            </a:r>
            <a:endParaRPr lang="zh-CN" altLang="en-US" sz="4400" b="1" dirty="0">
              <a:solidFill>
                <a:srgbClr val="004E98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2227" y="4392950"/>
            <a:ext cx="10389141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章秋爽，滕续聪，王笑楠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学生：孙健哲（博士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年级）、巫雪刚（博士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年级） 、韩珺卿（博士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年级） 、罗傲（硕士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年级） 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王笑楠组学生：李奕均、邱江杰 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740736" y="3045004"/>
            <a:ext cx="637857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rgbClr val="004E98"/>
                </a:solidFill>
                <a:latin typeface="+mj-ea"/>
                <a:ea typeface="+mj-ea"/>
              </a:rPr>
              <a:t>课题一：</a:t>
            </a:r>
            <a:r>
              <a:rPr lang="en-US" altLang="zh-CN" sz="4400" b="1" dirty="0">
                <a:solidFill>
                  <a:srgbClr val="004E98"/>
                </a:solidFill>
                <a:latin typeface="+mj-ea"/>
                <a:ea typeface="+mj-ea"/>
              </a:rPr>
              <a:t>AI</a:t>
            </a:r>
            <a:r>
              <a:rPr lang="zh-CN" altLang="en-US" sz="4400" b="1" dirty="0">
                <a:solidFill>
                  <a:srgbClr val="004E98"/>
                </a:solidFill>
                <a:latin typeface="+mj-ea"/>
                <a:ea typeface="+mj-ea"/>
              </a:rPr>
              <a:t>驱动老药新用</a:t>
            </a:r>
            <a:endParaRPr lang="zh-CN" altLang="en-US" sz="4400" b="1" dirty="0">
              <a:solidFill>
                <a:srgbClr val="004E98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</a:rPr>
              <a:t>研究背景：老药新用</a:t>
            </a:r>
            <a:endParaRPr lang="zh-CN" altLang="en-US" sz="3200" b="1" dirty="0">
              <a:solidFill>
                <a:srgbClr val="004E98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6388" y="1471092"/>
            <a:ext cx="4737463" cy="400110"/>
          </a:xfrm>
          <a:prstGeom prst="rect">
            <a:avLst/>
          </a:prstGeom>
          <a:solidFill>
            <a:srgbClr val="004E98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传统药物研发困境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6388" y="1879519"/>
            <a:ext cx="4828566" cy="2449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j-ea"/>
                <a:ea typeface="+mj-ea"/>
              </a:rPr>
              <a:t>研发周期长：从靶点发现到上市平均需</a:t>
            </a:r>
            <a:r>
              <a:rPr lang="en-US" altLang="zh-CN" sz="1600" b="1" dirty="0">
                <a:latin typeface="+mj-ea"/>
                <a:ea typeface="+mj-ea"/>
              </a:rPr>
              <a:t>10~15</a:t>
            </a:r>
            <a:r>
              <a:rPr lang="zh-CN" altLang="en-US" sz="1600" b="1" dirty="0">
                <a:latin typeface="+mj-ea"/>
                <a:ea typeface="+mj-ea"/>
              </a:rPr>
              <a:t>年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j-ea"/>
                <a:ea typeface="+mj-ea"/>
              </a:rPr>
              <a:t>成本高昂：单药约</a:t>
            </a:r>
            <a:r>
              <a:rPr lang="en-US" altLang="zh-CN" sz="1600" b="1" dirty="0">
                <a:latin typeface="+mj-ea"/>
                <a:ea typeface="+mj-ea"/>
              </a:rPr>
              <a:t>2.6</a:t>
            </a:r>
            <a:r>
              <a:rPr lang="zh-CN" altLang="en-US" sz="1600" b="1" dirty="0">
                <a:latin typeface="+mj-ea"/>
                <a:ea typeface="+mj-ea"/>
              </a:rPr>
              <a:t>亿美元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j-ea"/>
                <a:ea typeface="+mj-ea"/>
              </a:rPr>
              <a:t>成功率低：约</a:t>
            </a:r>
            <a:r>
              <a:rPr lang="en-US" altLang="zh-CN" sz="1600" b="1" dirty="0">
                <a:latin typeface="+mj-ea"/>
                <a:ea typeface="+mj-ea"/>
              </a:rPr>
              <a:t>90%</a:t>
            </a:r>
            <a:r>
              <a:rPr lang="zh-CN" altLang="en-US" sz="1600" b="1" dirty="0">
                <a:latin typeface="+mj-ea"/>
                <a:ea typeface="+mj-ea"/>
              </a:rPr>
              <a:t>候选药物在临床阶段失败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j-ea"/>
                <a:ea typeface="+mj-ea"/>
              </a:rPr>
              <a:t>罕见病、突发疫情难以及时获得新药</a:t>
            </a:r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76321" y="1879519"/>
            <a:ext cx="5943600" cy="2449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004E98"/>
                </a:solidFill>
                <a:latin typeface="+mj-ea"/>
                <a:ea typeface="+mj-ea"/>
              </a:rPr>
              <a:t>周期缩短</a:t>
            </a:r>
            <a:r>
              <a:rPr lang="zh-CN" altLang="en-US" sz="1600" b="1" dirty="0">
                <a:latin typeface="+mj-ea"/>
                <a:ea typeface="+mj-ea"/>
              </a:rPr>
              <a:t>：安全性已知，可省去I期临床试验，缩短至3</a:t>
            </a:r>
            <a:r>
              <a:rPr lang="en-US" altLang="zh-CN" sz="1600" b="1" dirty="0">
                <a:latin typeface="+mj-ea"/>
                <a:ea typeface="+mj-ea"/>
              </a:rPr>
              <a:t>~</a:t>
            </a:r>
            <a:r>
              <a:rPr lang="zh-CN" altLang="en-US" sz="1600" b="1" dirty="0">
                <a:latin typeface="+mj-ea"/>
                <a:ea typeface="+mj-ea"/>
              </a:rPr>
              <a:t>8年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004E98"/>
                </a:solidFill>
                <a:latin typeface="+mj-ea"/>
                <a:ea typeface="+mj-ea"/>
              </a:rPr>
              <a:t>成本降低</a:t>
            </a:r>
            <a:r>
              <a:rPr lang="zh-CN" altLang="en-US" sz="1600" b="1" dirty="0">
                <a:latin typeface="+mj-ea"/>
                <a:ea typeface="+mj-ea"/>
              </a:rPr>
              <a:t>：估算节省约60%以上研发投入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004E98"/>
                </a:solidFill>
                <a:latin typeface="+mj-ea"/>
                <a:ea typeface="+mj-ea"/>
              </a:rPr>
              <a:t>应对急症</a:t>
            </a:r>
            <a:r>
              <a:rPr lang="zh-CN" altLang="en-US" sz="1600" b="1" dirty="0">
                <a:latin typeface="+mj-ea"/>
                <a:ea typeface="+mj-ea"/>
              </a:rPr>
              <a:t>：疫情、罕见病可快速响应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004E98"/>
                </a:solidFill>
                <a:latin typeface="+mj-ea"/>
                <a:ea typeface="+mj-ea"/>
              </a:rPr>
              <a:t>拓展适应症</a:t>
            </a:r>
            <a:r>
              <a:rPr lang="zh-CN" altLang="en-US" sz="1600" b="1" dirty="0">
                <a:latin typeface="+mj-ea"/>
                <a:ea typeface="+mj-ea"/>
              </a:rPr>
              <a:t>：挖掘已有药物的新治疗领域</a:t>
            </a:r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6388" y="5764806"/>
            <a:ext cx="10920548" cy="504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老药新用</a:t>
            </a:r>
            <a:r>
              <a:rPr lang="zh-CN" altLang="en-US" sz="2000" b="1" dirty="0"/>
              <a:t>：将已获批或临床后期的药物用于新的适应症，是</a:t>
            </a:r>
            <a:r>
              <a:rPr lang="zh-CN" altLang="en-US" sz="2000" b="1" dirty="0">
                <a:solidFill>
                  <a:srgbClr val="C00000"/>
                </a:solidFill>
              </a:rPr>
              <a:t>缩短研发周期</a:t>
            </a:r>
            <a:r>
              <a:rPr lang="zh-CN" altLang="en-US" sz="2000" b="1" dirty="0"/>
              <a:t>、</a:t>
            </a:r>
            <a:r>
              <a:rPr lang="zh-CN" altLang="en-US" sz="2000" b="1" dirty="0">
                <a:solidFill>
                  <a:srgbClr val="C00000"/>
                </a:solidFill>
              </a:rPr>
              <a:t>降低成本</a:t>
            </a:r>
            <a:r>
              <a:rPr lang="zh-CN" altLang="en-US" sz="2000" b="1" dirty="0"/>
              <a:t>的关键策略。</a:t>
            </a:r>
            <a:endParaRPr lang="zh-CN" altLang="en-US" sz="20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5976322" y="1471092"/>
            <a:ext cx="5853729" cy="400110"/>
          </a:xfrm>
          <a:prstGeom prst="rect">
            <a:avLst/>
          </a:prstGeom>
          <a:solidFill>
            <a:srgbClr val="004E98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老药新用的优势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6388" y="1471093"/>
            <a:ext cx="4737463" cy="3266370"/>
          </a:xfrm>
          <a:prstGeom prst="rect">
            <a:avLst/>
          </a:prstGeom>
          <a:noFill/>
          <a:ln w="19050">
            <a:solidFill>
              <a:srgbClr val="6594C0"/>
            </a:solidFill>
          </a:ln>
          <a:effectLst>
            <a:outerShdw blurRad="50800" dist="38100" dir="2700000" algn="tl" rotWithShape="0">
              <a:srgbClr val="004E98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2000" dirty="0">
              <a:solidFill>
                <a:srgbClr val="004E98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76322" y="1471092"/>
            <a:ext cx="5853728" cy="3266370"/>
          </a:xfrm>
          <a:prstGeom prst="rect">
            <a:avLst/>
          </a:prstGeom>
          <a:noFill/>
          <a:ln w="19050">
            <a:solidFill>
              <a:srgbClr val="6594C0"/>
            </a:solidFill>
          </a:ln>
          <a:effectLst>
            <a:outerShdw blurRad="50800" dist="38100" dir="2700000" algn="tl" rotWithShape="0">
              <a:srgbClr val="004E98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2000" dirty="0">
              <a:solidFill>
                <a:srgbClr val="004E98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4754426" y="2728979"/>
            <a:ext cx="1617980" cy="560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</a:rPr>
              <a:t>研究背景：经典老药新用案例</a:t>
            </a:r>
            <a:endParaRPr lang="zh-CN" altLang="en-US" sz="3200" b="1" dirty="0">
              <a:solidFill>
                <a:srgbClr val="004E98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6622" y="1527375"/>
          <a:ext cx="11979584" cy="2985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075"/>
                <a:gridCol w="1741714"/>
                <a:gridCol w="2797157"/>
                <a:gridCol w="4152283"/>
                <a:gridCol w="7663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药物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原适应症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新适应症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发现途径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年代</a:t>
                      </a:r>
                      <a:endParaRPr lang="zh-CN" altLang="en-US" b="1" dirty="0"/>
                    </a:p>
                  </a:txBody>
                  <a:tcPr/>
                </a:tc>
              </a:tr>
              <a:tr h="43571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dirty="0"/>
                        <a:t>Aspirin</a:t>
                      </a:r>
                      <a:r>
                        <a:rPr lang="zh-CN" altLang="en-US" sz="1600" b="0" dirty="0"/>
                        <a:t>（阿司匹林）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镇痛消炎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预防心血管疾病</a:t>
                      </a:r>
                      <a:r>
                        <a:rPr lang="en-US" altLang="zh-CN" sz="1600" b="0" dirty="0"/>
                        <a:t>/</a:t>
                      </a:r>
                      <a:r>
                        <a:rPr lang="zh-CN" altLang="en-US" sz="1600" b="0" dirty="0"/>
                        <a:t>结直肠癌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rgbClr val="C00000"/>
                          </a:solidFill>
                        </a:rPr>
                        <a:t>流行病学观察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/>
                        <a:t>1970s</a:t>
                      </a:r>
                      <a:endParaRPr lang="zh-CN" altLang="en-US" sz="1600" b="0" dirty="0"/>
                    </a:p>
                  </a:txBody>
                  <a:tcPr/>
                </a:tc>
              </a:tr>
              <a:tr h="435719"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Minoxidil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米诺地尔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高血压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/>
                        <a:t>脱发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临床副作用观察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服药者出现多毛症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/>
                        <a:t>1980s</a:t>
                      </a:r>
                      <a:endParaRPr lang="zh-CN" altLang="en-US" sz="1600" b="0" dirty="0"/>
                    </a:p>
                  </a:txBody>
                  <a:tcPr/>
                </a:tc>
              </a:tr>
              <a:tr h="435719"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Thalidomide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沙利度胺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镇静止吐</a:t>
                      </a:r>
                      <a:r>
                        <a:rPr lang="en-US" altLang="zh-CN" sz="1600" b="0" dirty="0"/>
                        <a:t>(</a:t>
                      </a:r>
                      <a:r>
                        <a:rPr lang="zh-CN" altLang="en-US" sz="1600" b="0" dirty="0"/>
                        <a:t>致畸</a:t>
                      </a:r>
                      <a:r>
                        <a:rPr lang="en-US" altLang="zh-CN" sz="1600" b="0" dirty="0"/>
                        <a:t>)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多发性骨髓瘤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zh-CN" altLang="en-US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临床观察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sz="1600" b="0" i="0" dirty="0">
                          <a:solidFill>
                            <a:srgbClr val="000000"/>
                          </a:solidFill>
                          <a:effectLst/>
                          <a:latin typeface="Noto Sans SC" panose="020B0200000000000000" pitchFamily="34" charset="-122"/>
                          <a:ea typeface="Noto Sans SC" panose="020B0200000000000000" pitchFamily="34" charset="-122"/>
                        </a:rPr>
                        <a:t>骨髓瘤患者疗效显著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sz="1600" b="0" i="0" dirty="0">
                        <a:solidFill>
                          <a:srgbClr val="000000"/>
                        </a:solidFill>
                        <a:effectLst/>
                        <a:latin typeface="Noto Sans SC" panose="020B0200000000000000" pitchFamily="34" charset="-122"/>
                        <a:ea typeface="Noto Sans SC" panose="020B02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/>
                        <a:t>1990s</a:t>
                      </a:r>
                      <a:endParaRPr lang="zh-CN" altLang="en-US" sz="1600" b="0" dirty="0"/>
                    </a:p>
                  </a:txBody>
                  <a:tcPr/>
                </a:tc>
              </a:tr>
              <a:tr h="435719"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Sildenafil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（西地那非）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心绞痛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勃起功能障碍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zh-CN" altLang="en-US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临床副作用</a:t>
                      </a:r>
                      <a:r>
                        <a:rPr lang="zh-CN" altLang="zh-CN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观察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sz="1600" b="0" i="0" dirty="0">
                          <a:solidFill>
                            <a:srgbClr val="000000"/>
                          </a:solidFill>
                          <a:effectLst/>
                          <a:latin typeface="Noto Sans SC" panose="020B0200000000000000" pitchFamily="34" charset="-122"/>
                          <a:ea typeface="Noto Sans SC" panose="020B0200000000000000" pitchFamily="34" charset="-122"/>
                        </a:rPr>
                        <a:t>勃起现象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sz="1600" b="0" i="0" dirty="0">
                        <a:solidFill>
                          <a:srgbClr val="000000"/>
                        </a:solidFill>
                        <a:effectLst/>
                        <a:latin typeface="Noto Sans SC" panose="020B0200000000000000" pitchFamily="34" charset="-122"/>
                        <a:ea typeface="Noto Sans SC" panose="020B02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/>
                        <a:t>1990s</a:t>
                      </a:r>
                      <a:endParaRPr lang="zh-CN" altLang="en-US" sz="1600" b="0" dirty="0"/>
                    </a:p>
                  </a:txBody>
                  <a:tcPr/>
                </a:tc>
              </a:tr>
              <a:tr h="435719"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Ketamine</a:t>
                      </a:r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zh-CN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氯胺酮</a:t>
                      </a:r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麻醉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抑郁症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临床观察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亚麻醉剂量快速抗抑郁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/>
                        <a:t>2000s</a:t>
                      </a:r>
                      <a:endParaRPr lang="zh-CN" altLang="en-US" sz="1600" b="0" dirty="0"/>
                    </a:p>
                  </a:txBody>
                  <a:tcPr/>
                </a:tc>
              </a:tr>
              <a:tr h="43571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dirty="0"/>
                        <a:t>Metformin</a:t>
                      </a:r>
                      <a:r>
                        <a:rPr lang="zh-CN" altLang="en-US" sz="1600" b="0" dirty="0"/>
                        <a:t>（二甲双胍）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/>
                        <a:t>II</a:t>
                      </a:r>
                      <a:r>
                        <a:rPr lang="zh-CN" altLang="en-US" sz="1600" b="0" dirty="0"/>
                        <a:t>型糖尿病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癌症</a:t>
                      </a:r>
                      <a:r>
                        <a:rPr lang="en-US" altLang="zh-CN" sz="1600" b="0" dirty="0"/>
                        <a:t>/</a:t>
                      </a:r>
                      <a:r>
                        <a:rPr lang="zh-CN" altLang="en-US" sz="1600" b="0" dirty="0"/>
                        <a:t>抗衰老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流行病学观察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en-US" sz="1600" b="0" dirty="0"/>
                        <a:t>糖尿病患者癌症发生率低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/>
                        <a:t>2000s</a:t>
                      </a:r>
                      <a:endParaRPr lang="zh-CN" altLang="en-US" sz="1600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5740" y="5639435"/>
            <a:ext cx="1222629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2C2A26"/>
                </a:solidFill>
                <a:effectLst/>
                <a:latin typeface="Arial" panose="020B0604020202020204" pitchFamily="34" charset="0"/>
              </a:rPr>
              <a:t>传统老药新用发现</a:t>
            </a:r>
            <a:r>
              <a:rPr lang="zh-CN" altLang="zh-CN" sz="2000" b="1" i="0" dirty="0">
                <a:solidFill>
                  <a:srgbClr val="2C2A26"/>
                </a:solidFill>
                <a:effectLst/>
                <a:latin typeface="Arial" panose="020B0604020202020204" pitchFamily="34" charset="0"/>
              </a:rPr>
              <a:t>多源于临床副作用观察或流行病学发现，机制阐明往往滞后于临床应用</a:t>
            </a:r>
            <a:r>
              <a:rPr lang="zh-CN" altLang="en-US" sz="2000" b="1" i="0" dirty="0">
                <a:solidFill>
                  <a:srgbClr val="2C2A26"/>
                </a:solidFill>
                <a:effectLst/>
                <a:latin typeface="Arial" panose="020B0604020202020204" pitchFamily="34" charset="0"/>
              </a:rPr>
              <a:t>，依赖于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偶然性</a:t>
            </a:r>
            <a:r>
              <a:rPr lang="zh-CN" altLang="en-US" sz="2000" b="1" i="0" dirty="0">
                <a:solidFill>
                  <a:srgbClr val="2C2A26"/>
                </a:solidFill>
                <a:effectLst/>
                <a:latin typeface="Arial" panose="020B0604020202020204" pitchFamily="34" charset="0"/>
              </a:rPr>
              <a:t>。</a:t>
            </a:r>
            <a:endParaRPr lang="zh-CN" altLang="en-US" sz="2000" b="1" i="0" dirty="0">
              <a:solidFill>
                <a:srgbClr val="2C2A26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55016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</a:rPr>
              <a:t>研究背景：</a:t>
            </a:r>
            <a:r>
              <a:rPr lang="en-US" altLang="zh-CN" sz="32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3200" b="1" dirty="0">
                <a:solidFill>
                  <a:srgbClr val="004E98"/>
                </a:solidFill>
              </a:rPr>
              <a:t>驱动的老药新用</a:t>
            </a:r>
            <a:endParaRPr lang="zh-CN" altLang="en-US" sz="3200" b="1" dirty="0">
              <a:solidFill>
                <a:srgbClr val="004E98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815329" y="1177814"/>
          <a:ext cx="5900012" cy="245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605"/>
                <a:gridCol w="1911723"/>
                <a:gridCol w="170068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药物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原适应症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新适应症</a:t>
                      </a:r>
                      <a:endParaRPr lang="zh-CN" altLang="en-US" b="1" dirty="0"/>
                    </a:p>
                  </a:txBody>
                  <a:tcPr/>
                </a:tc>
              </a:tr>
              <a:tr h="695703"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Baricitinib</a:t>
                      </a:r>
                      <a:r>
                        <a:rPr lang="zh-CN" altLang="en-US" sz="1600" b="0" dirty="0"/>
                        <a:t>（巴瑞克替尼）</a:t>
                      </a:r>
                      <a:endParaRPr lang="zh-CN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类风湿性关节炎</a:t>
                      </a:r>
                      <a:endParaRPr lang="zh-CN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/>
                        <a:t>COVID-19</a:t>
                      </a:r>
                      <a:r>
                        <a:rPr lang="zh-CN" altLang="en-US" sz="1600" b="0" dirty="0"/>
                        <a:t>重症</a:t>
                      </a:r>
                      <a:endParaRPr lang="zh-CN" altLang="en-US" sz="1600" b="0" dirty="0"/>
                    </a:p>
                  </a:txBody>
                  <a:tcPr anchor="ctr"/>
                </a:tc>
              </a:tr>
              <a:tr h="60878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Vorinostat</a:t>
                      </a:r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zh-CN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伏立诺他</a:t>
                      </a:r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zh-CN" sz="1600" b="0" i="0" dirty="0">
                          <a:solidFill>
                            <a:srgbClr val="000000"/>
                          </a:solidFill>
                          <a:effectLst/>
                          <a:latin typeface="Noto Sans SC" panose="020B0200000000000000" pitchFamily="34" charset="-122"/>
                          <a:ea typeface="Noto Sans SC" panose="020B0200000000000000" pitchFamily="34" charset="-122"/>
                        </a:rPr>
                        <a:t>皮肤T细胞淋巴瘤</a:t>
                      </a:r>
                      <a:endParaRPr lang="zh-CN" sz="1600" b="0" i="0" dirty="0">
                        <a:solidFill>
                          <a:srgbClr val="000000"/>
                        </a:solidFill>
                        <a:effectLst/>
                        <a:latin typeface="Noto Sans SC" panose="020B0200000000000000" pitchFamily="34" charset="-122"/>
                        <a:ea typeface="Noto Sans SC" panose="020B02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Rett综合征</a:t>
                      </a:r>
                      <a:endParaRPr lang="zh-CN" altLang="en-US" sz="1600" b="0" dirty="0"/>
                    </a:p>
                  </a:txBody>
                  <a:tcPr anchor="ctr"/>
                </a:tc>
              </a:tr>
              <a:tr h="4357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Letrozole（来曲唑）</a:t>
                      </a:r>
                      <a:endParaRPr lang="en-US" altLang="zh-CN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Irinotecan（伊立替康）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0" i="0" dirty="0">
                          <a:solidFill>
                            <a:srgbClr val="000000"/>
                          </a:solidFill>
                          <a:effectLst/>
                          <a:latin typeface="Noto Sans SC" panose="020B0200000000000000" pitchFamily="34" charset="-122"/>
                          <a:ea typeface="Noto Sans SC" panose="020B0200000000000000" pitchFamily="34" charset="-122"/>
                        </a:rPr>
                        <a:t>乳腺癌</a:t>
                      </a:r>
                      <a:endParaRPr lang="en-US" altLang="zh-CN" sz="1600" b="0" i="0" dirty="0">
                        <a:solidFill>
                          <a:srgbClr val="000000"/>
                        </a:solidFill>
                        <a:effectLst/>
                        <a:latin typeface="Noto Sans SC" panose="020B0200000000000000" pitchFamily="34" charset="-122"/>
                        <a:ea typeface="Noto Sans SC" panose="020B0200000000000000" pitchFamily="34" charset="-122"/>
                      </a:endParaRPr>
                    </a:p>
                    <a:p>
                      <a:pPr algn="l" rtl="0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0" i="0" dirty="0">
                          <a:solidFill>
                            <a:srgbClr val="000000"/>
                          </a:solidFill>
                          <a:effectLst/>
                          <a:latin typeface="Noto Sans SC" panose="020B0200000000000000" pitchFamily="34" charset="-122"/>
                          <a:ea typeface="Noto Sans SC" panose="020B0200000000000000" pitchFamily="34" charset="-122"/>
                        </a:rPr>
                        <a:t>结直肠癌</a:t>
                      </a:r>
                      <a:endParaRPr lang="zh-CN" sz="1600" b="0" i="0" dirty="0">
                        <a:solidFill>
                          <a:srgbClr val="000000"/>
                        </a:solidFill>
                        <a:effectLst/>
                        <a:latin typeface="Noto Sans SC" panose="020B0200000000000000" pitchFamily="34" charset="-122"/>
                        <a:ea typeface="Noto Sans SC" panose="020B02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/>
                        <a:t>阿尔兹海默症</a:t>
                      </a:r>
                      <a:endParaRPr lang="zh-CN" altLang="en-US" sz="1600" b="0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89" y="842461"/>
            <a:ext cx="4893013" cy="392803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430887" y="4895407"/>
            <a:ext cx="35553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Li et al., 2025, </a:t>
            </a:r>
            <a:r>
              <a:rPr lang="zh-CN" altLang="en-US" sz="1400" b="1" dirty="0"/>
              <a:t>Cell</a:t>
            </a:r>
            <a:r>
              <a:rPr lang="zh-CN" altLang="en-US" sz="1400" dirty="0"/>
              <a:t> 188, 5516–5534</a:t>
            </a:r>
            <a:endParaRPr lang="zh-CN" altLang="en-US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1103630" y="5838190"/>
            <a:ext cx="1017206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AI</a:t>
            </a:r>
            <a:r>
              <a:rPr lang="zh-CN" altLang="en-US" sz="2000" b="1" dirty="0">
                <a:latin typeface="+mn-ea"/>
              </a:rPr>
              <a:t>推动老药新用从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依赖偶然发现</a:t>
            </a:r>
            <a:r>
              <a:rPr lang="zh-CN" altLang="en-US" sz="2000" b="1" dirty="0">
                <a:latin typeface="+mn-ea"/>
              </a:rPr>
              <a:t>转向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系统性主动筛选</a:t>
            </a:r>
            <a:r>
              <a:rPr lang="zh-CN" altLang="en-US" sz="2000" b="1" dirty="0">
                <a:latin typeface="+mn-ea"/>
              </a:rPr>
              <a:t>，从而显著提高了命中率与可复制性。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30520" y="4176395"/>
            <a:ext cx="6822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6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zh-CN" altLang="zh-CN" sz="16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阿兹海默症样本的</a:t>
            </a:r>
            <a:r>
              <a:rPr lang="zh-CN" altLang="zh-CN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转录组数据</a:t>
            </a:r>
            <a:r>
              <a:rPr lang="zh-CN" altLang="zh-CN" sz="16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为基础，建立细胞类型特异性分子</a:t>
            </a:r>
            <a:r>
              <a:rPr lang="zh-CN" altLang="zh-CN" sz="16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图谱。</a:t>
            </a:r>
            <a:endParaRPr lang="zh-CN" altLang="zh-CN" sz="16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6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讲疾病表达谱与药物诱导的基因表达变化比对，找到能够反向纠正阿兹海默症异常转录模式的</a:t>
            </a:r>
            <a:r>
              <a:rPr lang="zh-CN" altLang="zh-CN" sz="16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药物。</a:t>
            </a:r>
            <a:endParaRPr lang="zh-CN" altLang="zh-CN" sz="16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一、定义药物和蛋白实体</a:t>
            </a:r>
            <a:endParaRPr lang="zh-CN" altLang="en-US" sz="3200" b="1" dirty="0">
              <a:solidFill>
                <a:srgbClr val="004E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" y="841375"/>
            <a:ext cx="7239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：将药物定义成可计算、可追溯且与实验问题一致的实体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0140" y="1539240"/>
            <a:ext cx="39331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1623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FDA</a:t>
            </a:r>
            <a:r>
              <a:rPr lang="zh-CN" altLang="en-US" sz="1600" b="1">
                <a:solidFill>
                  <a:srgbClr val="1623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官方来源重建</a:t>
            </a:r>
            <a:r>
              <a:rPr lang="en-US" altLang="zh-CN" sz="1600" b="1">
                <a:solidFill>
                  <a:srgbClr val="1623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2005–2026</a:t>
            </a:r>
            <a:r>
              <a:rPr lang="zh-CN" altLang="en-US" sz="1600" b="1">
                <a:solidFill>
                  <a:srgbClr val="1623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药物全集</a:t>
            </a:r>
            <a:endParaRPr lang="zh-CN" altLang="en-US" sz="1600" b="1">
              <a:solidFill>
                <a:srgbClr val="1623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>
                <a:solidFill>
                  <a:srgbClr val="1623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FDA/GSRS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1,130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1510" y="1539240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1510" y="2360295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1510" y="5827395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1510" y="3296920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51510" y="4831080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下箭头 24"/>
          <p:cNvSpPr/>
          <p:nvPr/>
        </p:nvSpPr>
        <p:spPr>
          <a:xfrm>
            <a:off x="2355215" y="2221865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下箭头 25"/>
          <p:cNvSpPr/>
          <p:nvPr/>
        </p:nvSpPr>
        <p:spPr>
          <a:xfrm>
            <a:off x="2355215" y="2995295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2355215" y="3709670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20140" y="2360295"/>
            <a:ext cx="34886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标准可建模小分子：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1,130 → 887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2715" y="2245360"/>
            <a:ext cx="610235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去除非化学模态、诊断</a:t>
            </a:r>
            <a:r>
              <a:rPr lang="en-US" altLang="zh-CN" sz="1600"/>
              <a:t>/</a:t>
            </a:r>
            <a:r>
              <a:rPr lang="zh-CN" altLang="en-US" sz="1600"/>
              <a:t>显像剂、气体、物理吸附剂、聚合物、树脂、未解析混合物、超大分子以及主要依赖非特异化学反应的实体。这些实体不能用统一的小分子</a:t>
            </a:r>
            <a:r>
              <a:rPr lang="en-US" altLang="zh-CN" sz="1600"/>
              <a:t>–</a:t>
            </a:r>
            <a:r>
              <a:rPr lang="zh-CN" altLang="en-US" sz="1600"/>
              <a:t>蛋白非共价结合模型处理。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1120140" y="3296920"/>
            <a:ext cx="34886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核心药物实体：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887 → 850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12715" y="3182620"/>
            <a:ext cx="6102350" cy="58356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zh-CN" altLang="en-US" sz="1600"/>
              <a:t>重大撤市或安全问题；保守定义下的</a:t>
            </a:r>
            <a:r>
              <a:rPr lang="en-US" altLang="zh-CN" sz="1600"/>
              <a:t>DNA</a:t>
            </a:r>
            <a:r>
              <a:rPr lang="zh-CN" altLang="en-US" sz="1600"/>
              <a:t>反应性药物；主要依赖广谱细胞毒起效的分子。后续老药新用价值和实验解释很弱。</a:t>
            </a:r>
            <a:endParaRPr lang="zh-CN" altLang="en-US" sz="1600"/>
          </a:p>
        </p:txBody>
      </p:sp>
      <p:sp>
        <p:nvSpPr>
          <p:cNvPr id="30" name="文本框 29"/>
          <p:cNvSpPr txBox="1"/>
          <p:nvPr/>
        </p:nvSpPr>
        <p:spPr>
          <a:xfrm>
            <a:off x="1120140" y="4831080"/>
            <a:ext cx="34886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直接蛋白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MoA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药物：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844 → 747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120140" y="5796280"/>
            <a:ext cx="34886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严格亲和药物实体：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747 → 683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下箭头 31"/>
          <p:cNvSpPr/>
          <p:nvPr/>
        </p:nvSpPr>
        <p:spPr>
          <a:xfrm>
            <a:off x="2355215" y="5482590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212715" y="3961765"/>
            <a:ext cx="610235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去除</a:t>
            </a:r>
            <a:r>
              <a:rPr lang="en-US" altLang="zh-CN" sz="1600"/>
              <a:t>6</a:t>
            </a:r>
            <a:r>
              <a:rPr lang="zh-CN" altLang="en-US" sz="1600"/>
              <a:t>个混合物或特殊表示药物单列。</a:t>
            </a:r>
            <a:r>
              <a:rPr lang="zh-CN" altLang="en-US" sz="1600"/>
              <a:t>因为统一模型需要明确、唯一、可生成三维构象的化学结构。</a:t>
            </a:r>
            <a:endParaRPr lang="zh-CN" altLang="en-US" sz="1600"/>
          </a:p>
        </p:txBody>
      </p:sp>
      <p:sp>
        <p:nvSpPr>
          <p:cNvPr id="34" name="下箭头 33"/>
          <p:cNvSpPr/>
          <p:nvPr/>
        </p:nvSpPr>
        <p:spPr>
          <a:xfrm>
            <a:off x="2355215" y="4525010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120140" y="4078605"/>
            <a:ext cx="34886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标准单一结构药物：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850 </a:t>
            </a:r>
            <a:r>
              <a:rPr lang="en-US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844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1510" y="4078605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12715" y="4716780"/>
            <a:ext cx="610235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要求药物至少有一条</a:t>
            </a:r>
            <a:r>
              <a:rPr lang="en-US" altLang="zh-CN" sz="1600"/>
              <a:t>ChEMBL</a:t>
            </a:r>
            <a:r>
              <a:rPr lang="zh-CN" altLang="en-US" sz="1600"/>
              <a:t>直接蛋白</a:t>
            </a:r>
            <a:r>
              <a:rPr lang="en-US" altLang="zh-CN" sz="1600"/>
              <a:t>MoA</a:t>
            </a:r>
            <a:r>
              <a:rPr lang="zh-CN" altLang="en-US" sz="1600"/>
              <a:t>。项目当前问题是“</a:t>
            </a:r>
            <a:r>
              <a:rPr lang="en-US" altLang="zh-CN" sz="1600"/>
              <a:t>FDA</a:t>
            </a:r>
            <a:r>
              <a:rPr lang="zh-CN" altLang="en-US" sz="1600"/>
              <a:t>药物能否直接结合新的蛋白靶点”。已知机制主要为物理吸附、螯合、间接调节或没有蛋白</a:t>
            </a:r>
            <a:r>
              <a:rPr lang="en-US" altLang="zh-CN" sz="1600"/>
              <a:t>MoA</a:t>
            </a:r>
            <a:r>
              <a:rPr lang="zh-CN" altLang="en-US" sz="1600"/>
              <a:t>的药物，不适合进入严格亲和主队列。</a:t>
            </a:r>
            <a:endParaRPr lang="zh-CN" altLang="en-US" sz="1600"/>
          </a:p>
        </p:txBody>
      </p:sp>
      <p:sp>
        <p:nvSpPr>
          <p:cNvPr id="38" name="文本框 37"/>
          <p:cNvSpPr txBox="1"/>
          <p:nvPr/>
        </p:nvSpPr>
        <p:spPr>
          <a:xfrm>
            <a:off x="5212715" y="5682615"/>
            <a:ext cx="610235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去除或暂缓</a:t>
            </a:r>
            <a:r>
              <a:rPr lang="en-US" altLang="zh-CN" sz="1600"/>
              <a:t>64</a:t>
            </a:r>
            <a:r>
              <a:rPr lang="zh-CN" altLang="en-US" sz="1600"/>
              <a:t>个没有标准非共价模型适用结构的药物。</a:t>
            </a:r>
            <a:endParaRPr lang="zh-CN" altLang="en-US" sz="1600"/>
          </a:p>
          <a:p>
            <a:r>
              <a:rPr lang="en-US" altLang="zh-CN" sz="1600"/>
              <a:t>64</a:t>
            </a:r>
            <a:r>
              <a:rPr lang="zh-CN" altLang="en-US" sz="1600"/>
              <a:t>个暂缓药物并非被判定无价值，只是不进入当前统一模型。</a:t>
            </a:r>
            <a:endParaRPr lang="zh-CN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一、定义药物和蛋白实体</a:t>
            </a:r>
            <a:endParaRPr lang="zh-CN" altLang="en-US" sz="3200" b="1" dirty="0">
              <a:solidFill>
                <a:srgbClr val="004E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" y="841375"/>
            <a:ext cx="7239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：将蛋白定义成可计算、可追溯且与实验问题一致的实体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0140" y="1663700"/>
            <a:ext cx="43211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ChEMBL 37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人源单蛋白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MoA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靶点：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888</a:t>
            </a:r>
            <a:endParaRPr lang="zh-CN" altLang="en-US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1510" y="1663700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1510" y="2575560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1510" y="3703320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20140" y="3609340"/>
            <a:ext cx="43211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ChEMBL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小分子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MoA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靶点：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745 </a:t>
            </a:r>
            <a:r>
              <a:rPr lang="en-US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450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20140" y="4947285"/>
            <a:ext cx="43668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保留五类可实验靶点：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450 </a:t>
            </a:r>
            <a:r>
              <a:rPr lang="en-US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408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51510" y="4947285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下箭头 24"/>
          <p:cNvSpPr/>
          <p:nvPr/>
        </p:nvSpPr>
        <p:spPr>
          <a:xfrm>
            <a:off x="2355215" y="2170430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下箭头 25"/>
          <p:cNvSpPr/>
          <p:nvPr/>
        </p:nvSpPr>
        <p:spPr>
          <a:xfrm>
            <a:off x="2355215" y="3179445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2346325" y="4561205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08650" y="1518285"/>
            <a:ext cx="598360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ChEMBL 37 drug_mechanism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Homo sapiens 2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target_type = SINGLE PROTEIN</a:t>
            </a:r>
            <a:endParaRPr lang="en-US" alt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、至少有一条药物机制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/MoA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、按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target_chembl_id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去重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20140" y="26362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GPCR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888 → 745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08650" y="2575560"/>
            <a:ext cx="598424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本轮冻结的是统一非共价亲和与实验口袋主队列。</a:t>
            </a:r>
            <a:r>
              <a:rPr lang="en-US" altLang="zh-CN" sz="1600"/>
              <a:t>GPCR</a:t>
            </a:r>
            <a:r>
              <a:rPr lang="zh-CN" altLang="en-US" sz="1600"/>
              <a:t>需要膜环境、构象状态、功能信号和专门实验协议，不能与可溶性酶、激酶等共用统一结构筛选和实验解释。</a:t>
            </a:r>
            <a:endParaRPr lang="zh-CN" altLang="en-US" sz="1600"/>
          </a:p>
        </p:txBody>
      </p:sp>
      <p:sp>
        <p:nvSpPr>
          <p:cNvPr id="20" name="文本框 19"/>
          <p:cNvSpPr txBox="1"/>
          <p:nvPr/>
        </p:nvSpPr>
        <p:spPr>
          <a:xfrm>
            <a:off x="1120140" y="5942965"/>
            <a:ext cx="43668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要求合格实验口袋：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408 </a:t>
            </a:r>
            <a:r>
              <a:rPr lang="en-US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338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1510" y="5942965"/>
            <a:ext cx="36703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2355215" y="5498465"/>
            <a:ext cx="194310" cy="141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708015" y="3609340"/>
            <a:ext cx="598360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要求该靶点至少有一条 </a:t>
            </a:r>
            <a:r>
              <a:rPr lang="en-US" altLang="zh-CN" sz="1600"/>
              <a:t>molecule_type = Small molecule </a:t>
            </a:r>
            <a:r>
              <a:rPr lang="zh-CN" altLang="en-US" sz="1600"/>
              <a:t>的</a:t>
            </a:r>
            <a:r>
              <a:rPr lang="en-US" altLang="zh-CN" sz="1600"/>
              <a:t>ChEMBL MoA</a:t>
            </a:r>
            <a:r>
              <a:rPr lang="zh-CN" altLang="en-US" sz="1600"/>
              <a:t>记录。</a:t>
            </a:r>
            <a:r>
              <a:rPr lang="en-US" altLang="zh-CN" sz="1600"/>
              <a:t>888</a:t>
            </a:r>
            <a:r>
              <a:rPr lang="zh-CN" altLang="en-US" sz="1600"/>
              <a:t>个靶点中包含抗体、蛋白、多肽等其他药物模态。当前项目筛选</a:t>
            </a:r>
            <a:r>
              <a:rPr lang="en-US" altLang="zh-CN" sz="1600"/>
              <a:t>FDA</a:t>
            </a:r>
            <a:r>
              <a:rPr lang="zh-CN" altLang="en-US" sz="1600"/>
              <a:t>小分子，因此要求靶点至少已有小分子直接作用先例。</a:t>
            </a:r>
            <a:endParaRPr lang="zh-CN" altLang="en-US" sz="1600"/>
          </a:p>
        </p:txBody>
      </p:sp>
      <p:sp>
        <p:nvSpPr>
          <p:cNvPr id="33" name="文本框 32"/>
          <p:cNvSpPr txBox="1"/>
          <p:nvPr/>
        </p:nvSpPr>
        <p:spPr>
          <a:xfrm>
            <a:off x="5708650" y="4892675"/>
            <a:ext cx="598297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酶</a:t>
            </a:r>
            <a:r>
              <a:rPr lang="en-US" altLang="zh-CN" sz="1600"/>
              <a:t>/</a:t>
            </a:r>
            <a:r>
              <a:rPr lang="zh-CN" altLang="en-US" sz="1600"/>
              <a:t>非激酶、激酶、离子通道、核内</a:t>
            </a:r>
            <a:r>
              <a:rPr lang="en-US" altLang="zh-CN" sz="1600"/>
              <a:t>/</a:t>
            </a:r>
            <a:r>
              <a:rPr lang="zh-CN" altLang="en-US" sz="1600"/>
              <a:t>表观遗传蛋白、转运体。这些类型能够定义相对明确的结合位点、蛋白状态和直接</a:t>
            </a:r>
            <a:r>
              <a:rPr lang="en-US" altLang="zh-CN" sz="1600"/>
              <a:t>/</a:t>
            </a:r>
            <a:r>
              <a:rPr lang="zh-CN" altLang="en-US" sz="1600"/>
              <a:t>功能实验。未分类蛋白、胞外黏附蛋白及特殊体系不进入统一主协议。</a:t>
            </a:r>
            <a:endParaRPr lang="zh-CN" altLang="en-US" sz="1600"/>
          </a:p>
        </p:txBody>
      </p:sp>
      <p:sp>
        <p:nvSpPr>
          <p:cNvPr id="34" name="文本框 33"/>
          <p:cNvSpPr txBox="1"/>
          <p:nvPr/>
        </p:nvSpPr>
        <p:spPr>
          <a:xfrm>
            <a:off x="5708650" y="5868670"/>
            <a:ext cx="598297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要求专业口袋数据库确认的实验位点；或药物映射的高质量实验口袋。实验结构里出现配体不等于该配体位于有药理意义的口袋，可能只是结晶添加剂、表面结合或非目标位点。</a:t>
            </a:r>
            <a:endParaRPr lang="zh-CN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969328" y="1577975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755B5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344" y="1623695"/>
            <a:ext cx="274320" cy="3931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08240" y="1628267"/>
            <a:ext cx="205740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老药侧筛选漏斗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34693" y="1577975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2709" y="1623695"/>
            <a:ext cx="274320" cy="3931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3605" y="1628267"/>
            <a:ext cx="205740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靶点侧筛选漏斗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1018" y="2766695"/>
            <a:ext cx="0" cy="155448"/>
          </a:xfrm>
          <a:prstGeom prst="line">
            <a:avLst/>
          </a:prstGeom>
          <a:noFill/>
          <a:ln w="25400">
            <a:solidFill>
              <a:srgbClr val="0755B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018" y="3589655"/>
            <a:ext cx="0" cy="155448"/>
          </a:xfrm>
          <a:prstGeom prst="line">
            <a:avLst/>
          </a:prstGeom>
          <a:noFill/>
          <a:ln w="25400">
            <a:solidFill>
              <a:srgbClr val="0755B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018" y="4412615"/>
            <a:ext cx="0" cy="155448"/>
          </a:xfrm>
          <a:prstGeom prst="line">
            <a:avLst/>
          </a:prstGeom>
          <a:noFill/>
          <a:ln w="25400">
            <a:solidFill>
              <a:srgbClr val="075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0645" y="2766695"/>
            <a:ext cx="0" cy="155448"/>
          </a:xfrm>
          <a:prstGeom prst="line">
            <a:avLst/>
          </a:prstGeom>
          <a:noFill/>
          <a:ln w="2540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50645" y="3589655"/>
            <a:ext cx="0" cy="155448"/>
          </a:xfrm>
          <a:prstGeom prst="line">
            <a:avLst/>
          </a:prstGeom>
          <a:noFill/>
          <a:ln w="2540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50645" y="4412615"/>
            <a:ext cx="0" cy="155448"/>
          </a:xfrm>
          <a:prstGeom prst="line">
            <a:avLst/>
          </a:prstGeom>
          <a:noFill/>
          <a:ln w="2540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7536" y="2208911"/>
            <a:ext cx="347472" cy="347472"/>
          </a:xfrm>
          <a:prstGeom prst="ellipse">
            <a:avLst/>
          </a:prstGeom>
          <a:solidFill>
            <a:srgbClr val="075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536" y="2269094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9599" y="212661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64" y="218147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FDA 2005–2026 原始实体</a:t>
            </a:r>
            <a:endParaRPr lang="en-US" sz="98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1039" y="235521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1,130</a:t>
            </a:r>
            <a:endParaRPr lang="en-US" sz="25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7536" y="3031871"/>
            <a:ext cx="347472" cy="347472"/>
          </a:xfrm>
          <a:prstGeom prst="ellipse">
            <a:avLst/>
          </a:prstGeom>
          <a:solidFill>
            <a:srgbClr val="075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536" y="3092054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9599" y="294957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64" y="300443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标准可建模小分子</a:t>
            </a:r>
            <a:endParaRPr lang="en-US" sz="98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1039" y="317817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887</a:t>
            </a:r>
            <a:endParaRPr lang="en-US" sz="25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7536" y="3854831"/>
            <a:ext cx="347472" cy="347472"/>
          </a:xfrm>
          <a:prstGeom prst="ellipse">
            <a:avLst/>
          </a:prstGeom>
          <a:solidFill>
            <a:srgbClr val="075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536" y="3915014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9599" y="377253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64" y="382739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标准单一结构药物</a:t>
            </a:r>
            <a:endParaRPr lang="en-US" sz="98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1039" y="400113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844</a:t>
            </a:r>
            <a:endParaRPr lang="en-US" sz="25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47536" y="4677791"/>
            <a:ext cx="347472" cy="347472"/>
          </a:xfrm>
          <a:prstGeom prst="ellipse">
            <a:avLst/>
          </a:prstGeom>
          <a:solidFill>
            <a:srgbClr val="075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536" y="4737974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4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9599" y="459549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0755B5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64" y="465035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最终部署老药</a:t>
            </a:r>
            <a:endParaRPr lang="en-US" sz="98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51039" y="482409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720</a:t>
            </a:r>
            <a:endParaRPr lang="en-US" sz="2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145600" y="2126615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91320" y="2218055"/>
            <a:ext cx="22860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145790" y="2126615"/>
            <a:ext cx="1143635" cy="60325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去除非化学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模态/混合物</a:t>
            </a:r>
            <a:endParaRPr lang="en-US" sz="10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145600" y="2949575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320" y="3041015"/>
            <a:ext cx="22860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145790" y="2949575"/>
            <a:ext cx="1143635" cy="60325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去除无法统一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建模实体</a:t>
            </a:r>
            <a:endParaRPr lang="en-US" sz="10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145600" y="3772535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91320" y="3863975"/>
            <a:ext cx="22860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148330" y="3772535"/>
            <a:ext cx="1140460" cy="60325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聚焦可追溯直接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蛋白作用老药</a:t>
            </a:r>
            <a:endParaRPr lang="en-US" sz="10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767765" y="2208911"/>
            <a:ext cx="347472" cy="347472"/>
          </a:xfrm>
          <a:prstGeom prst="ellipse">
            <a:avLst/>
          </a:prstGeom>
          <a:solidFill>
            <a:srgbClr val="00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67765" y="2268459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270685" y="212661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5549" y="218147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ChEMBL37 人源单蛋白 MoA 靶点</a:t>
            </a:r>
            <a:endParaRPr lang="en-US" sz="98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362125" y="235521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C8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888</a:t>
            </a:r>
            <a:endParaRPr lang="en-US" sz="2500" b="1" dirty="0">
              <a:solidFill>
                <a:srgbClr val="008C8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767765" y="3031871"/>
            <a:ext cx="347472" cy="347472"/>
          </a:xfrm>
          <a:prstGeom prst="ellipse">
            <a:avLst/>
          </a:prstGeom>
          <a:solidFill>
            <a:srgbClr val="00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67765" y="3091419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270685" y="294957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5549" y="300443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小分子直接作用先例</a:t>
            </a:r>
            <a:endParaRPr lang="en-US" sz="98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62125" y="317817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C8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450</a:t>
            </a:r>
            <a:endParaRPr lang="en-US" sz="2500" b="1" dirty="0">
              <a:solidFill>
                <a:srgbClr val="008C8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767765" y="3854831"/>
            <a:ext cx="347472" cy="347472"/>
          </a:xfrm>
          <a:prstGeom prst="ellipse">
            <a:avLst/>
          </a:prstGeom>
          <a:solidFill>
            <a:srgbClr val="00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67765" y="3914379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270685" y="377253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25549" y="382739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五类可实验主队列</a:t>
            </a:r>
            <a:endParaRPr lang="en-US" sz="98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362125" y="400113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C8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408</a:t>
            </a:r>
            <a:endParaRPr lang="en-US" sz="2500" b="1" dirty="0">
              <a:solidFill>
                <a:srgbClr val="008C8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767765" y="4677791"/>
            <a:ext cx="347472" cy="347472"/>
          </a:xfrm>
          <a:prstGeom prst="ellipse">
            <a:avLst/>
          </a:prstGeom>
          <a:solidFill>
            <a:srgbClr val="00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7765" y="4737339"/>
            <a:ext cx="347472" cy="2606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4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8270685" y="4595495"/>
            <a:ext cx="2240280" cy="621792"/>
          </a:xfrm>
          <a:prstGeom prst="roundRect">
            <a:avLst>
              <a:gd name="adj" fmla="val 8824"/>
            </a:avLst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5549" y="4650359"/>
            <a:ext cx="213055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最终部署靶点</a:t>
            </a:r>
            <a:endParaRPr lang="en-US" sz="98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362125" y="4824095"/>
            <a:ext cx="205740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384</a:t>
            </a:r>
            <a:endParaRPr lang="en-US" sz="2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0602595" y="2126615"/>
            <a:ext cx="1140460" cy="621665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602595" y="2126615"/>
            <a:ext cx="1140460" cy="61277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排除不适配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统一协议靶点</a:t>
            </a:r>
            <a:endParaRPr lang="en-US" sz="10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602595" y="2949575"/>
            <a:ext cx="1140460" cy="621665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602595" y="2949575"/>
            <a:ext cx="1140460" cy="61277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聚焦可定义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结合位点</a:t>
            </a:r>
            <a:endParaRPr lang="en-US" sz="10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0602595" y="3772535"/>
            <a:ext cx="1140460" cy="621665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602595" y="3772535"/>
            <a:ext cx="1140460" cy="61277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统一口袋/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实验边界</a:t>
            </a:r>
            <a:endParaRPr lang="en-US" sz="10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4517390" y="2126615"/>
            <a:ext cx="2977515" cy="3173095"/>
          </a:xfrm>
          <a:prstGeom prst="roundRect">
            <a:avLst>
              <a:gd name="adj" fmla="val 2830"/>
            </a:avLst>
          </a:prstGeom>
          <a:solidFill>
            <a:srgbClr val="F9FFFF"/>
          </a:solidFill>
          <a:ln w="13970">
            <a:solidFill>
              <a:srgbClr val="0755B5"/>
            </a:solidFill>
            <a:prstDash val="solid"/>
          </a:ln>
          <a:effectLst>
            <a:outerShdw blurRad="25400" dist="50800" dir="2700000" algn="bl" rotWithShape="0">
              <a:srgbClr val="0E2A5A">
                <a:alpha val="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581208" y="2336673"/>
            <a:ext cx="2834640" cy="21945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候选部署矩阵</a:t>
            </a:r>
            <a:endParaRPr lang="en-US" sz="16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4654233" y="2729992"/>
            <a:ext cx="2560320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fontScale="9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720 × 384</a:t>
            </a:r>
            <a:endParaRPr lang="en-US" sz="26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5071745" y="3219450"/>
            <a:ext cx="2165985" cy="799465"/>
            <a:chOff x="7431" y="5861"/>
            <a:chExt cx="3002" cy="986"/>
          </a:xfrm>
        </p:grpSpPr>
        <p:sp>
          <p:nvSpPr>
            <p:cNvPr id="82" name="Shape 80"/>
            <p:cNvSpPr/>
            <p:nvPr/>
          </p:nvSpPr>
          <p:spPr>
            <a:xfrm>
              <a:off x="7431" y="5861"/>
              <a:ext cx="194" cy="180"/>
            </a:xfrm>
            <a:prstGeom prst="rect">
              <a:avLst/>
            </a:prstGeom>
            <a:solidFill>
              <a:srgbClr val="D9ECF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83" name="Shape 81"/>
            <p:cNvSpPr/>
            <p:nvPr/>
          </p:nvSpPr>
          <p:spPr>
            <a:xfrm>
              <a:off x="7647" y="5861"/>
              <a:ext cx="194" cy="180"/>
            </a:xfrm>
            <a:prstGeom prst="rect">
              <a:avLst/>
            </a:prstGeom>
            <a:solidFill>
              <a:srgbClr val="D9ECF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84" name="Shape 82"/>
            <p:cNvSpPr/>
            <p:nvPr/>
          </p:nvSpPr>
          <p:spPr>
            <a:xfrm>
              <a:off x="7863" y="5861"/>
              <a:ext cx="194" cy="180"/>
            </a:xfrm>
            <a:prstGeom prst="rect">
              <a:avLst/>
            </a:prstGeom>
            <a:solidFill>
              <a:srgbClr val="D9ECF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85" name="Shape 83"/>
            <p:cNvSpPr/>
            <p:nvPr/>
          </p:nvSpPr>
          <p:spPr>
            <a:xfrm>
              <a:off x="8079" y="5861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86" name="Shape 84"/>
            <p:cNvSpPr/>
            <p:nvPr/>
          </p:nvSpPr>
          <p:spPr>
            <a:xfrm>
              <a:off x="8295" y="5861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87" name="Shape 85"/>
            <p:cNvSpPr/>
            <p:nvPr/>
          </p:nvSpPr>
          <p:spPr>
            <a:xfrm>
              <a:off x="8511" y="5861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>
              <a:off x="8727" y="5861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89" name="Shape 87"/>
            <p:cNvSpPr/>
            <p:nvPr/>
          </p:nvSpPr>
          <p:spPr>
            <a:xfrm>
              <a:off x="8943" y="5861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0" name="Shape 88"/>
            <p:cNvSpPr/>
            <p:nvPr/>
          </p:nvSpPr>
          <p:spPr>
            <a:xfrm>
              <a:off x="9159" y="5861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1" name="Shape 89"/>
            <p:cNvSpPr/>
            <p:nvPr/>
          </p:nvSpPr>
          <p:spPr>
            <a:xfrm>
              <a:off x="9375" y="5861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>
              <a:off x="9591" y="5861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>
              <a:off x="9807" y="5861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>
              <a:off x="10023" y="5861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5" name="Shape 93"/>
            <p:cNvSpPr/>
            <p:nvPr/>
          </p:nvSpPr>
          <p:spPr>
            <a:xfrm>
              <a:off x="10239" y="5861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6" name="Shape 94"/>
            <p:cNvSpPr/>
            <p:nvPr/>
          </p:nvSpPr>
          <p:spPr>
            <a:xfrm>
              <a:off x="7431" y="6062"/>
              <a:ext cx="194" cy="180"/>
            </a:xfrm>
            <a:prstGeom prst="rect">
              <a:avLst/>
            </a:prstGeom>
            <a:solidFill>
              <a:srgbClr val="D9ECF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7" name="Shape 95"/>
            <p:cNvSpPr/>
            <p:nvPr/>
          </p:nvSpPr>
          <p:spPr>
            <a:xfrm>
              <a:off x="7647" y="6062"/>
              <a:ext cx="194" cy="180"/>
            </a:xfrm>
            <a:prstGeom prst="rect">
              <a:avLst/>
            </a:prstGeom>
            <a:solidFill>
              <a:srgbClr val="D9ECF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>
              <a:off x="7863" y="6062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99" name="Shape 97"/>
            <p:cNvSpPr/>
            <p:nvPr/>
          </p:nvSpPr>
          <p:spPr>
            <a:xfrm>
              <a:off x="8079" y="6062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0" name="Shape 98"/>
            <p:cNvSpPr/>
            <p:nvPr/>
          </p:nvSpPr>
          <p:spPr>
            <a:xfrm>
              <a:off x="8295" y="6062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8511" y="6062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2" name="Shape 100"/>
            <p:cNvSpPr/>
            <p:nvPr/>
          </p:nvSpPr>
          <p:spPr>
            <a:xfrm>
              <a:off x="8727" y="6062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3" name="Shape 101"/>
            <p:cNvSpPr/>
            <p:nvPr/>
          </p:nvSpPr>
          <p:spPr>
            <a:xfrm>
              <a:off x="8943" y="6062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4" name="Shape 102"/>
            <p:cNvSpPr/>
            <p:nvPr/>
          </p:nvSpPr>
          <p:spPr>
            <a:xfrm>
              <a:off x="9159" y="6062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5" name="Shape 103"/>
            <p:cNvSpPr/>
            <p:nvPr/>
          </p:nvSpPr>
          <p:spPr>
            <a:xfrm>
              <a:off x="9375" y="6062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6" name="Shape 104"/>
            <p:cNvSpPr/>
            <p:nvPr/>
          </p:nvSpPr>
          <p:spPr>
            <a:xfrm>
              <a:off x="9591" y="6062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7" name="Shape 105"/>
            <p:cNvSpPr/>
            <p:nvPr/>
          </p:nvSpPr>
          <p:spPr>
            <a:xfrm>
              <a:off x="9807" y="6062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8" name="Shape 106"/>
            <p:cNvSpPr/>
            <p:nvPr/>
          </p:nvSpPr>
          <p:spPr>
            <a:xfrm>
              <a:off x="10023" y="6062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09" name="Shape 107"/>
            <p:cNvSpPr/>
            <p:nvPr/>
          </p:nvSpPr>
          <p:spPr>
            <a:xfrm>
              <a:off x="10239" y="6062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0" name="Shape 108"/>
            <p:cNvSpPr/>
            <p:nvPr/>
          </p:nvSpPr>
          <p:spPr>
            <a:xfrm>
              <a:off x="7431" y="6264"/>
              <a:ext cx="194" cy="180"/>
            </a:xfrm>
            <a:prstGeom prst="rect">
              <a:avLst/>
            </a:prstGeom>
            <a:solidFill>
              <a:srgbClr val="D9ECF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1" name="Shape 109"/>
            <p:cNvSpPr/>
            <p:nvPr/>
          </p:nvSpPr>
          <p:spPr>
            <a:xfrm>
              <a:off x="7647" y="6264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2" name="Shape 110"/>
            <p:cNvSpPr/>
            <p:nvPr/>
          </p:nvSpPr>
          <p:spPr>
            <a:xfrm>
              <a:off x="7863" y="6264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3" name="Shape 111"/>
            <p:cNvSpPr/>
            <p:nvPr/>
          </p:nvSpPr>
          <p:spPr>
            <a:xfrm>
              <a:off x="8079" y="6264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4" name="Shape 112"/>
            <p:cNvSpPr/>
            <p:nvPr/>
          </p:nvSpPr>
          <p:spPr>
            <a:xfrm>
              <a:off x="8295" y="6264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5" name="Shape 113"/>
            <p:cNvSpPr/>
            <p:nvPr/>
          </p:nvSpPr>
          <p:spPr>
            <a:xfrm>
              <a:off x="8511" y="6264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6" name="Shape 114"/>
            <p:cNvSpPr/>
            <p:nvPr/>
          </p:nvSpPr>
          <p:spPr>
            <a:xfrm>
              <a:off x="8727" y="6264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7" name="Shape 115"/>
            <p:cNvSpPr/>
            <p:nvPr/>
          </p:nvSpPr>
          <p:spPr>
            <a:xfrm>
              <a:off x="8943" y="6264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8" name="Shape 116"/>
            <p:cNvSpPr/>
            <p:nvPr/>
          </p:nvSpPr>
          <p:spPr>
            <a:xfrm>
              <a:off x="9159" y="6264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9" name="Shape 117"/>
            <p:cNvSpPr/>
            <p:nvPr/>
          </p:nvSpPr>
          <p:spPr>
            <a:xfrm>
              <a:off x="9375" y="6264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0" name="Shape 118"/>
            <p:cNvSpPr/>
            <p:nvPr/>
          </p:nvSpPr>
          <p:spPr>
            <a:xfrm>
              <a:off x="9591" y="6264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1" name="Shape 119"/>
            <p:cNvSpPr/>
            <p:nvPr/>
          </p:nvSpPr>
          <p:spPr>
            <a:xfrm>
              <a:off x="9807" y="6264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2" name="Shape 120"/>
            <p:cNvSpPr/>
            <p:nvPr/>
          </p:nvSpPr>
          <p:spPr>
            <a:xfrm>
              <a:off x="10023" y="6264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3" name="Shape 121"/>
            <p:cNvSpPr/>
            <p:nvPr/>
          </p:nvSpPr>
          <p:spPr>
            <a:xfrm>
              <a:off x="10239" y="6264"/>
              <a:ext cx="194" cy="180"/>
            </a:xfrm>
            <a:prstGeom prst="rect">
              <a:avLst/>
            </a:prstGeom>
            <a:solidFill>
              <a:srgbClr val="63BCD9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4" name="Shape 122"/>
            <p:cNvSpPr/>
            <p:nvPr/>
          </p:nvSpPr>
          <p:spPr>
            <a:xfrm>
              <a:off x="7431" y="6466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5" name="Shape 123"/>
            <p:cNvSpPr/>
            <p:nvPr/>
          </p:nvSpPr>
          <p:spPr>
            <a:xfrm>
              <a:off x="7647" y="6466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6" name="Shape 124"/>
            <p:cNvSpPr/>
            <p:nvPr/>
          </p:nvSpPr>
          <p:spPr>
            <a:xfrm>
              <a:off x="7863" y="6466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7" name="Shape 125"/>
            <p:cNvSpPr/>
            <p:nvPr/>
          </p:nvSpPr>
          <p:spPr>
            <a:xfrm>
              <a:off x="8079" y="6466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8" name="Shape 126"/>
            <p:cNvSpPr/>
            <p:nvPr/>
          </p:nvSpPr>
          <p:spPr>
            <a:xfrm>
              <a:off x="8295" y="6466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29" name="Shape 127"/>
            <p:cNvSpPr/>
            <p:nvPr/>
          </p:nvSpPr>
          <p:spPr>
            <a:xfrm>
              <a:off x="8511" y="6466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0" name="Shape 128"/>
            <p:cNvSpPr/>
            <p:nvPr/>
          </p:nvSpPr>
          <p:spPr>
            <a:xfrm>
              <a:off x="8727" y="6466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1" name="Shape 129"/>
            <p:cNvSpPr/>
            <p:nvPr/>
          </p:nvSpPr>
          <p:spPr>
            <a:xfrm>
              <a:off x="8943" y="6466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2" name="Shape 130"/>
            <p:cNvSpPr/>
            <p:nvPr/>
          </p:nvSpPr>
          <p:spPr>
            <a:xfrm>
              <a:off x="9159" y="6466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3" name="Shape 131"/>
            <p:cNvSpPr/>
            <p:nvPr/>
          </p:nvSpPr>
          <p:spPr>
            <a:xfrm>
              <a:off x="9375" y="6466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4" name="Shape 132"/>
            <p:cNvSpPr/>
            <p:nvPr/>
          </p:nvSpPr>
          <p:spPr>
            <a:xfrm>
              <a:off x="9591" y="6466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5" name="Shape 133"/>
            <p:cNvSpPr/>
            <p:nvPr/>
          </p:nvSpPr>
          <p:spPr>
            <a:xfrm>
              <a:off x="9807" y="6466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6" name="Shape 134"/>
            <p:cNvSpPr/>
            <p:nvPr/>
          </p:nvSpPr>
          <p:spPr>
            <a:xfrm>
              <a:off x="10023" y="6466"/>
              <a:ext cx="194" cy="180"/>
            </a:xfrm>
            <a:prstGeom prst="rect">
              <a:avLst/>
            </a:prstGeom>
            <a:solidFill>
              <a:srgbClr val="63BCD9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7" name="Shape 135"/>
            <p:cNvSpPr/>
            <p:nvPr/>
          </p:nvSpPr>
          <p:spPr>
            <a:xfrm>
              <a:off x="10239" y="6466"/>
              <a:ext cx="194" cy="180"/>
            </a:xfrm>
            <a:prstGeom prst="rect">
              <a:avLst/>
            </a:prstGeom>
            <a:solidFill>
              <a:srgbClr val="63BCD9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8" name="Shape 136"/>
            <p:cNvSpPr/>
            <p:nvPr/>
          </p:nvSpPr>
          <p:spPr>
            <a:xfrm>
              <a:off x="7431" y="6667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39" name="Shape 137"/>
            <p:cNvSpPr/>
            <p:nvPr/>
          </p:nvSpPr>
          <p:spPr>
            <a:xfrm>
              <a:off x="7647" y="6667"/>
              <a:ext cx="194" cy="180"/>
            </a:xfrm>
            <a:prstGeom prst="rect">
              <a:avLst/>
            </a:prstGeom>
            <a:solidFill>
              <a:srgbClr val="C7EAF7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0" name="Shape 138"/>
            <p:cNvSpPr/>
            <p:nvPr/>
          </p:nvSpPr>
          <p:spPr>
            <a:xfrm>
              <a:off x="7863" y="6667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1" name="Shape 139"/>
            <p:cNvSpPr/>
            <p:nvPr/>
          </p:nvSpPr>
          <p:spPr>
            <a:xfrm>
              <a:off x="8079" y="6667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2" name="Shape 140"/>
            <p:cNvSpPr/>
            <p:nvPr/>
          </p:nvSpPr>
          <p:spPr>
            <a:xfrm>
              <a:off x="8295" y="6667"/>
              <a:ext cx="194" cy="180"/>
            </a:xfrm>
            <a:prstGeom prst="rect">
              <a:avLst/>
            </a:prstGeom>
            <a:solidFill>
              <a:srgbClr val="AEE6EE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3" name="Shape 141"/>
            <p:cNvSpPr/>
            <p:nvPr/>
          </p:nvSpPr>
          <p:spPr>
            <a:xfrm>
              <a:off x="8511" y="6667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4" name="Shape 142"/>
            <p:cNvSpPr/>
            <p:nvPr/>
          </p:nvSpPr>
          <p:spPr>
            <a:xfrm>
              <a:off x="8727" y="6667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5" name="Shape 143"/>
            <p:cNvSpPr/>
            <p:nvPr/>
          </p:nvSpPr>
          <p:spPr>
            <a:xfrm>
              <a:off x="8943" y="6667"/>
              <a:ext cx="194" cy="180"/>
            </a:xfrm>
            <a:prstGeom prst="rect">
              <a:avLst/>
            </a:prstGeom>
            <a:solidFill>
              <a:srgbClr val="90DCE5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6" name="Shape 144"/>
            <p:cNvSpPr/>
            <p:nvPr/>
          </p:nvSpPr>
          <p:spPr>
            <a:xfrm>
              <a:off x="9159" y="6667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7" name="Shape 145"/>
            <p:cNvSpPr/>
            <p:nvPr/>
          </p:nvSpPr>
          <p:spPr>
            <a:xfrm>
              <a:off x="9375" y="6667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8" name="Shape 146"/>
            <p:cNvSpPr/>
            <p:nvPr/>
          </p:nvSpPr>
          <p:spPr>
            <a:xfrm>
              <a:off x="9591" y="6667"/>
              <a:ext cx="194" cy="180"/>
            </a:xfrm>
            <a:prstGeom prst="rect">
              <a:avLst/>
            </a:prstGeom>
            <a:solidFill>
              <a:srgbClr val="7ACFE0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49" name="Shape 147"/>
            <p:cNvSpPr/>
            <p:nvPr/>
          </p:nvSpPr>
          <p:spPr>
            <a:xfrm>
              <a:off x="9807" y="6667"/>
              <a:ext cx="194" cy="180"/>
            </a:xfrm>
            <a:prstGeom prst="rect">
              <a:avLst/>
            </a:prstGeom>
            <a:solidFill>
              <a:srgbClr val="63BCD9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50" name="Shape 148"/>
            <p:cNvSpPr/>
            <p:nvPr/>
          </p:nvSpPr>
          <p:spPr>
            <a:xfrm>
              <a:off x="10023" y="6667"/>
              <a:ext cx="194" cy="180"/>
            </a:xfrm>
            <a:prstGeom prst="rect">
              <a:avLst/>
            </a:prstGeom>
            <a:solidFill>
              <a:srgbClr val="63BCD9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51" name="Shape 149"/>
            <p:cNvSpPr/>
            <p:nvPr/>
          </p:nvSpPr>
          <p:spPr>
            <a:xfrm>
              <a:off x="10239" y="6667"/>
              <a:ext cx="194" cy="180"/>
            </a:xfrm>
            <a:prstGeom prst="rect">
              <a:avLst/>
            </a:prstGeom>
            <a:solidFill>
              <a:srgbClr val="63BCD9"/>
            </a:solidFill>
            <a:ln w="6350">
              <a:solidFill>
                <a:srgbClr val="FFFFFF"/>
              </a:solidFill>
              <a:prstDash val="solid"/>
            </a:ln>
          </p:spPr>
        </p:sp>
      </p:grpSp>
      <p:sp>
        <p:nvSpPr>
          <p:cNvPr id="152" name="Text 150"/>
          <p:cNvSpPr/>
          <p:nvPr/>
        </p:nvSpPr>
        <p:spPr>
          <a:xfrm>
            <a:off x="4572635" y="3297555"/>
            <a:ext cx="401955" cy="55753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720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老药</a:t>
            </a:r>
            <a:endParaRPr lang="en-US" sz="14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5539105" y="4092575"/>
            <a:ext cx="1188720" cy="25717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384 靶点</a:t>
            </a:r>
            <a:endParaRPr lang="en-US" sz="1400" b="1" dirty="0">
              <a:solidFill>
                <a:srgbClr val="0E2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4618355" y="4399915"/>
            <a:ext cx="1600200" cy="3378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= 276,480</a:t>
            </a:r>
            <a:endParaRPr lang="en-US" sz="18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4530090" y="4787900"/>
            <a:ext cx="2964180" cy="51181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465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Drug–Target pairs</a:t>
            </a:r>
            <a:endParaRPr lang="en-US" sz="1400" b="1" dirty="0">
              <a:solidFill>
                <a:srgbClr val="3C465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0" name="Shape 158"/>
          <p:cNvSpPr/>
          <p:nvPr/>
        </p:nvSpPr>
        <p:spPr>
          <a:xfrm>
            <a:off x="1172210" y="5779135"/>
            <a:ext cx="10045065" cy="872490"/>
          </a:xfrm>
          <a:prstGeom prst="roundRect">
            <a:avLst>
              <a:gd name="adj" fmla="val 7692"/>
            </a:avLst>
          </a:prstGeom>
          <a:solidFill>
            <a:srgbClr val="F9FCFF"/>
          </a:solidFill>
          <a:ln w="12700">
            <a:solidFill>
              <a:srgbClr val="0755B5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017838" y="6075807"/>
            <a:ext cx="41148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endParaRPr 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Text 160"/>
          <p:cNvSpPr/>
          <p:nvPr/>
        </p:nvSpPr>
        <p:spPr>
          <a:xfrm>
            <a:off x="2278380" y="5988050"/>
            <a:ext cx="1419225" cy="31686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全空间重评分</a:t>
            </a:r>
            <a:endParaRPr lang="en-US" sz="16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2334895" y="6304280"/>
            <a:ext cx="1362710" cy="25082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C465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统一模型与协议</a:t>
            </a:r>
            <a:endParaRPr lang="en-US" sz="1200" dirty="0">
              <a:solidFill>
                <a:srgbClr val="3C465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3804095" y="6130417"/>
            <a:ext cx="228600" cy="173736"/>
          </a:xfrm>
          <a:prstGeom prst="rightArrow">
            <a:avLst/>
          </a:prstGeom>
          <a:solidFill>
            <a:srgbClr val="0755B5"/>
          </a:solidFill>
          <a:ln w="12700">
            <a:solidFill>
              <a:srgbClr val="0755B5">
                <a:alpha val="0"/>
              </a:srgbClr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572318" y="6075807"/>
            <a:ext cx="41148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endParaRPr 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4402455" y="5988050"/>
            <a:ext cx="1419225" cy="31686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每药内部排序</a:t>
            </a:r>
            <a:endParaRPr lang="en-US" sz="16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4458970" y="6304280"/>
            <a:ext cx="1362710" cy="25082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C465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归一化与对比</a:t>
            </a:r>
            <a:endParaRPr lang="en-US" sz="1200" dirty="0">
              <a:solidFill>
                <a:srgbClr val="3C465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5925630" y="6121527"/>
            <a:ext cx="228600" cy="173736"/>
          </a:xfrm>
          <a:prstGeom prst="rightArrow">
            <a:avLst/>
          </a:prstGeom>
          <a:solidFill>
            <a:srgbClr val="0755B5"/>
          </a:solidFill>
          <a:ln w="12700">
            <a:solidFill>
              <a:srgbClr val="0755B5">
                <a:alpha val="0"/>
              </a:srgbClr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218238" y="6075807"/>
            <a:ext cx="41148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endParaRPr 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Text 168"/>
          <p:cNvSpPr/>
          <p:nvPr/>
        </p:nvSpPr>
        <p:spPr>
          <a:xfrm>
            <a:off x="6475730" y="5988050"/>
            <a:ext cx="1419225" cy="31686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5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 候选</a:t>
            </a:r>
            <a:endParaRPr lang="en-US" sz="1600" b="1" dirty="0">
              <a:solidFill>
                <a:srgbClr val="0755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6532245" y="6304280"/>
            <a:ext cx="1362710" cy="25082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C465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全空间统一截断</a:t>
            </a:r>
            <a:endParaRPr lang="en-US" sz="1200" dirty="0">
              <a:solidFill>
                <a:srgbClr val="3C465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8042085" y="6130417"/>
            <a:ext cx="228600" cy="173736"/>
          </a:xfrm>
          <a:prstGeom prst="rightArrow">
            <a:avLst/>
          </a:prstGeom>
          <a:solidFill>
            <a:srgbClr val="0755B5"/>
          </a:solidFill>
          <a:ln w="12700">
            <a:solidFill>
              <a:srgbClr val="0755B5">
                <a:alpha val="0"/>
              </a:srgbClr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8406130" y="5988050"/>
            <a:ext cx="1419225" cy="31686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8C8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湿实验优先级</a:t>
            </a:r>
            <a:endParaRPr lang="en-US" sz="1600" b="1" dirty="0">
              <a:solidFill>
                <a:srgbClr val="008C8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5" name="Text 173"/>
          <p:cNvSpPr/>
          <p:nvPr/>
        </p:nvSpPr>
        <p:spPr>
          <a:xfrm>
            <a:off x="8462645" y="6304280"/>
            <a:ext cx="1362710" cy="25082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C465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实验资源聚焦</a:t>
            </a:r>
            <a:endParaRPr lang="en-US" sz="1200" dirty="0">
              <a:solidFill>
                <a:srgbClr val="3C465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pic>
        <p:nvPicPr>
          <p:cNvPr id="181" name="Picture 180" descr="database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918" y="1703705"/>
            <a:ext cx="233172" cy="233172"/>
          </a:xfrm>
          <a:prstGeom prst="rect">
            <a:avLst/>
          </a:prstGeom>
        </p:spPr>
      </p:pic>
      <p:pic>
        <p:nvPicPr>
          <p:cNvPr id="182" name="Picture 181" descr="bulls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283" y="1703705"/>
            <a:ext cx="233172" cy="233172"/>
          </a:xfrm>
          <a:prstGeom prst="rect">
            <a:avLst/>
          </a:prstGeom>
        </p:spPr>
      </p:pic>
      <p:sp>
        <p:nvSpPr>
          <p:cNvPr id="198" name="矩形 197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199" name="直接连接符 198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/>
        </p:nvSpPr>
        <p:spPr>
          <a:xfrm>
            <a:off x="116622" y="66388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一、定义药物和蛋白实体</a:t>
            </a:r>
            <a:endParaRPr lang="zh-CN" altLang="en-US" sz="3200" b="1" dirty="0">
              <a:solidFill>
                <a:srgbClr val="004E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54610" y="841375"/>
            <a:ext cx="7239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：药物、蛋白实体构建候选矩阵纵览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Shape 166"/>
          <p:cNvSpPr/>
          <p:nvPr/>
        </p:nvSpPr>
        <p:spPr>
          <a:xfrm rot="5400000">
            <a:off x="5898325" y="5421122"/>
            <a:ext cx="228600" cy="173736"/>
          </a:xfrm>
          <a:prstGeom prst="rightArrow">
            <a:avLst/>
          </a:prstGeom>
          <a:solidFill>
            <a:srgbClr val="0755B5"/>
          </a:solidFill>
          <a:ln w="12700">
            <a:solidFill>
              <a:srgbClr val="0755B5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31"/>
          <p:cNvSpPr/>
          <p:nvPr/>
        </p:nvSpPr>
        <p:spPr>
          <a:xfrm>
            <a:off x="5731644" y="2022351"/>
            <a:ext cx="532306" cy="0"/>
          </a:xfrm>
          <a:prstGeom prst="line">
            <a:avLst/>
          </a:prstGeom>
          <a:noFill/>
          <a:ln w="1397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201" name="Shape 77"/>
          <p:cNvSpPr/>
          <p:nvPr/>
        </p:nvSpPr>
        <p:spPr>
          <a:xfrm>
            <a:off x="10189210" y="5805170"/>
            <a:ext cx="1706880" cy="9048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35767" y="929917"/>
            <a:ext cx="656268" cy="306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输入</a:t>
            </a:r>
            <a:endParaRPr lang="en-US" sz="15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46236" y="929917"/>
            <a:ext cx="656268" cy="306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编码器</a:t>
            </a:r>
            <a:endParaRPr lang="en-US" sz="15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26175" y="929640"/>
            <a:ext cx="2851785" cy="30607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Pair interaction trunk</a:t>
            </a:r>
            <a:endParaRPr lang="en-US" sz="145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130155" y="929640"/>
            <a:ext cx="856615" cy="3886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部署输出</a:t>
            </a:r>
            <a:endParaRPr lang="en-US" sz="15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958715" y="2023115"/>
            <a:ext cx="328134" cy="0"/>
          </a:xfrm>
          <a:prstGeom prst="line">
            <a:avLst/>
          </a:prstGeom>
          <a:noFill/>
          <a:ln w="1397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58715" y="3356818"/>
            <a:ext cx="328134" cy="0"/>
          </a:xfrm>
          <a:prstGeom prst="line">
            <a:avLst/>
          </a:prstGeom>
          <a:noFill/>
          <a:ln w="1397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02580" y="4067810"/>
            <a:ext cx="830580" cy="635"/>
          </a:xfrm>
          <a:prstGeom prst="line">
            <a:avLst/>
          </a:prstGeom>
          <a:noFill/>
          <a:ln w="1524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20207" y="2023115"/>
            <a:ext cx="189589" cy="0"/>
          </a:xfrm>
          <a:prstGeom prst="line">
            <a:avLst/>
          </a:prstGeom>
          <a:noFill/>
          <a:ln w="1397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20207" y="3356818"/>
            <a:ext cx="189589" cy="0"/>
          </a:xfrm>
          <a:prstGeom prst="line">
            <a:avLst/>
          </a:prstGeom>
          <a:noFill/>
          <a:ln w="1397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94179" y="3364106"/>
            <a:ext cx="532306" cy="0"/>
          </a:xfrm>
          <a:prstGeom prst="line">
            <a:avLst/>
          </a:prstGeom>
          <a:noFill/>
          <a:ln w="1397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57970" y="3356610"/>
            <a:ext cx="490220" cy="635"/>
          </a:xfrm>
          <a:prstGeom prst="line">
            <a:avLst/>
          </a:prstGeom>
          <a:noFill/>
          <a:ln w="1524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48390" y="2030403"/>
            <a:ext cx="0" cy="1902166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47555" y="2030095"/>
            <a:ext cx="275590" cy="635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48190" y="2984500"/>
            <a:ext cx="274955" cy="1270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47555" y="3932555"/>
            <a:ext cx="275590" cy="635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1163300" y="2030095"/>
            <a:ext cx="241300" cy="635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63300" y="2985135"/>
            <a:ext cx="236855" cy="635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63300" y="3932555"/>
            <a:ext cx="241300" cy="635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03965" y="2030095"/>
            <a:ext cx="635" cy="2294890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rot="5400000">
            <a:off x="11313795" y="4834255"/>
            <a:ext cx="182245" cy="635"/>
          </a:xfrm>
          <a:prstGeom prst="line">
            <a:avLst/>
          </a:prstGeom>
          <a:noFill/>
          <a:ln w="1524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626523" y="1855668"/>
            <a:ext cx="0" cy="255080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626523" y="2591756"/>
            <a:ext cx="0" cy="291520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626523" y="3320554"/>
            <a:ext cx="0" cy="174912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2332355" y="1440180"/>
            <a:ext cx="1640840" cy="11080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2332355" y="2795905"/>
            <a:ext cx="1640840" cy="110045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2332355" y="4144010"/>
            <a:ext cx="1640840" cy="88201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4294140" y="1440076"/>
            <a:ext cx="933359" cy="257994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4294140" y="2788355"/>
            <a:ext cx="933359" cy="0"/>
          </a:xfrm>
          <a:prstGeom prst="line">
            <a:avLst/>
          </a:prstGeom>
          <a:noFill/>
          <a:ln w="10160">
            <a:solidFill>
              <a:srgbClr val="80B2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24380" y="1848204"/>
            <a:ext cx="306258" cy="342536"/>
          </a:xfrm>
          <a:prstGeom prst="roundRect">
            <a:avLst/>
          </a:prstGeom>
          <a:solidFill>
            <a:srgbClr val="004FB5"/>
          </a:solidFill>
          <a:ln w="6350">
            <a:solidFill>
              <a:srgbClr val="004FB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788973" y="1687868"/>
            <a:ext cx="182297" cy="736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B2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24380" y="3203770"/>
            <a:ext cx="306258" cy="342536"/>
          </a:xfrm>
          <a:prstGeom prst="roundRect">
            <a:avLst/>
          </a:prstGeom>
          <a:solidFill>
            <a:srgbClr val="009B9B"/>
          </a:solidFill>
          <a:ln w="6350">
            <a:solidFill>
              <a:srgbClr val="009B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788973" y="3043434"/>
            <a:ext cx="182297" cy="736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B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840016" y="1877356"/>
            <a:ext cx="72919" cy="72880"/>
          </a:xfrm>
          <a:prstGeom prst="ellipse">
            <a:avLst/>
          </a:prstGeom>
          <a:solidFill>
            <a:srgbClr val="004FB5"/>
          </a:solidFill>
          <a:ln w="12700">
            <a:solidFill>
              <a:srgbClr val="004FB5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840016" y="2052267"/>
            <a:ext cx="72919" cy="72880"/>
          </a:xfrm>
          <a:prstGeom prst="ellipse">
            <a:avLst/>
          </a:prstGeom>
          <a:solidFill>
            <a:srgbClr val="004FB5"/>
          </a:solidFill>
          <a:ln w="12700">
            <a:solidFill>
              <a:srgbClr val="004FB5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840016" y="2227179"/>
            <a:ext cx="72919" cy="72880"/>
          </a:xfrm>
          <a:prstGeom prst="ellipse">
            <a:avLst/>
          </a:prstGeom>
          <a:solidFill>
            <a:srgbClr val="004FB5"/>
          </a:solidFill>
          <a:ln w="12700">
            <a:solidFill>
              <a:srgbClr val="004FB5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840016" y="3232922"/>
            <a:ext cx="72919" cy="72880"/>
          </a:xfrm>
          <a:prstGeom prst="ellipse">
            <a:avLst/>
          </a:prstGeom>
          <a:solidFill>
            <a:srgbClr val="009B9B"/>
          </a:solidFill>
          <a:ln w="12700">
            <a:solidFill>
              <a:srgbClr val="009B9B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840016" y="3407834"/>
            <a:ext cx="72919" cy="72880"/>
          </a:xfrm>
          <a:prstGeom prst="ellipse">
            <a:avLst/>
          </a:prstGeom>
          <a:solidFill>
            <a:srgbClr val="009B9B"/>
          </a:solidFill>
          <a:ln w="12700">
            <a:solidFill>
              <a:srgbClr val="009B9B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840016" y="3590034"/>
            <a:ext cx="72919" cy="72880"/>
          </a:xfrm>
          <a:prstGeom prst="ellipse">
            <a:avLst/>
          </a:prstGeom>
          <a:solidFill>
            <a:srgbClr val="009B9B"/>
          </a:solidFill>
          <a:ln w="12700">
            <a:solidFill>
              <a:srgbClr val="009B9B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226175" y="4395470"/>
            <a:ext cx="2974975" cy="7289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B9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226175" y="1463040"/>
            <a:ext cx="2974975" cy="2811780"/>
          </a:xfrm>
          <a:prstGeom prst="roundRect">
            <a:avLst>
              <a:gd name="adj" fmla="val 5619"/>
            </a:avLst>
          </a:prstGeom>
          <a:solidFill>
            <a:srgbClr val="F7FBFF"/>
          </a:solidFill>
          <a:ln w="1524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74" name="Shape 71"/>
          <p:cNvSpPr/>
          <p:nvPr/>
        </p:nvSpPr>
        <p:spPr>
          <a:xfrm>
            <a:off x="6343015" y="2125345"/>
            <a:ext cx="2727325" cy="567690"/>
          </a:xfrm>
          <a:prstGeom prst="roundRect">
            <a:avLst/>
          </a:prstGeom>
          <a:solidFill>
            <a:srgbClr val="0059C8"/>
          </a:solidFill>
          <a:ln w="6350">
            <a:solidFill>
              <a:srgbClr val="0059C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338570" y="3203575"/>
            <a:ext cx="2727325" cy="542290"/>
          </a:xfrm>
          <a:prstGeom prst="roundRect">
            <a:avLst/>
          </a:prstGeom>
          <a:solidFill>
            <a:srgbClr val="009B9B"/>
          </a:solidFill>
          <a:ln w="6350">
            <a:solidFill>
              <a:srgbClr val="009B9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233160" y="5273675"/>
            <a:ext cx="3008630" cy="662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FB2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9" name="Shape 76"/>
          <p:cNvSpPr/>
          <p:nvPr/>
        </p:nvSpPr>
        <p:spPr>
          <a:xfrm>
            <a:off x="9923461" y="1673292"/>
            <a:ext cx="1246909" cy="72151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80" name="Shape 77"/>
          <p:cNvSpPr/>
          <p:nvPr/>
        </p:nvSpPr>
        <p:spPr>
          <a:xfrm>
            <a:off x="9923461" y="2606155"/>
            <a:ext cx="1246909" cy="72151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9923461" y="3553594"/>
            <a:ext cx="1246909" cy="72151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11209676" y="4967732"/>
            <a:ext cx="364593" cy="36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4FB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935830" y="4347823"/>
            <a:ext cx="1013569" cy="357112"/>
          </a:xfrm>
          <a:prstGeom prst="roundRect">
            <a:avLst/>
          </a:prstGeom>
          <a:solidFill>
            <a:srgbClr val="004FB5"/>
          </a:solidFill>
          <a:ln w="6350">
            <a:solidFill>
              <a:srgbClr val="004FB5"/>
            </a:solidFill>
            <a:prstDash val="solid"/>
          </a:ln>
        </p:spPr>
      </p:sp>
      <p:pic>
        <p:nvPicPr>
          <p:cNvPr id="92" name="Image 2" descr="/mnt/data/odti_icons/target_prote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445" y="3043555"/>
            <a:ext cx="626110" cy="613410"/>
          </a:xfrm>
          <a:prstGeom prst="rect">
            <a:avLst/>
          </a:prstGeom>
        </p:spPr>
      </p:pic>
      <p:pic>
        <p:nvPicPr>
          <p:cNvPr id="94" name="Image 4" descr="/mnt/data/odti_icons/db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231" y="1899220"/>
            <a:ext cx="466679" cy="444567"/>
          </a:xfrm>
          <a:prstGeom prst="rect">
            <a:avLst/>
          </a:prstGeom>
        </p:spPr>
      </p:pic>
      <p:pic>
        <p:nvPicPr>
          <p:cNvPr id="95" name="Image 5" descr="/mnt/data/odti_icons/db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231" y="3254786"/>
            <a:ext cx="466679" cy="444567"/>
          </a:xfrm>
          <a:prstGeom prst="rect">
            <a:avLst/>
          </a:prstGeom>
        </p:spPr>
      </p:pic>
      <p:pic>
        <p:nvPicPr>
          <p:cNvPr id="96" name="Image 6" descr="/mnt/data/odti_icons/es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657" y="4519494"/>
            <a:ext cx="393761" cy="393552"/>
          </a:xfrm>
          <a:prstGeom prst="rect">
            <a:avLst/>
          </a:prstGeom>
        </p:spPr>
      </p:pic>
      <p:pic>
        <p:nvPicPr>
          <p:cNvPr id="100" name="Image 10" descr="/mnt/data/odti_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294" y="5345808"/>
            <a:ext cx="510431" cy="459143"/>
          </a:xfrm>
          <a:prstGeom prst="rect">
            <a:avLst/>
          </a:prstGeom>
        </p:spPr>
      </p:pic>
      <p:sp>
        <p:nvSpPr>
          <p:cNvPr id="118" name="Text 95"/>
          <p:cNvSpPr/>
          <p:nvPr/>
        </p:nvSpPr>
        <p:spPr>
          <a:xfrm>
            <a:off x="3090545" y="1717040"/>
            <a:ext cx="751205" cy="30607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Drug</a:t>
            </a:r>
            <a:endParaRPr lang="en-US" sz="19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9" name="Text 96"/>
          <p:cNvSpPr/>
          <p:nvPr/>
        </p:nvSpPr>
        <p:spPr>
          <a:xfrm>
            <a:off x="2964180" y="2050415"/>
            <a:ext cx="951230" cy="4400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药物模型</a:t>
            </a:r>
            <a:r>
              <a:rPr lang="zh-CN" altLang="en-US" sz="1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嵌入</a:t>
            </a:r>
            <a:endParaRPr lang="zh-CN" altLang="en-US" sz="1200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0" name="Text 97"/>
          <p:cNvSpPr/>
          <p:nvPr/>
        </p:nvSpPr>
        <p:spPr>
          <a:xfrm>
            <a:off x="3097530" y="3071495"/>
            <a:ext cx="751205" cy="314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Target</a:t>
            </a:r>
            <a:endParaRPr lang="en-US" sz="1800" b="1" dirty="0">
              <a:solidFill>
                <a:srgbClr val="009B9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1" name="Text 98"/>
          <p:cNvSpPr/>
          <p:nvPr/>
        </p:nvSpPr>
        <p:spPr>
          <a:xfrm>
            <a:off x="2964180" y="3384550"/>
            <a:ext cx="975995" cy="42545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蛋白模型嵌入</a:t>
            </a:r>
            <a:endParaRPr lang="zh-CN" altLang="en-US" sz="1200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2" name="Text 99"/>
          <p:cNvSpPr/>
          <p:nvPr/>
        </p:nvSpPr>
        <p:spPr>
          <a:xfrm>
            <a:off x="3065780" y="4382135"/>
            <a:ext cx="834390" cy="2717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Family</a:t>
            </a:r>
            <a:endParaRPr lang="en-US" sz="17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3" name="Text 100"/>
          <p:cNvSpPr/>
          <p:nvPr/>
        </p:nvSpPr>
        <p:spPr>
          <a:xfrm>
            <a:off x="2964180" y="4653915"/>
            <a:ext cx="951230" cy="2717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靶点</a:t>
            </a:r>
            <a:r>
              <a:rPr lang="en-US" sz="1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家族嵌入</a:t>
            </a:r>
            <a:endParaRPr lang="en-US" sz="1200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4" name="Text 101"/>
          <p:cNvSpPr/>
          <p:nvPr/>
        </p:nvSpPr>
        <p:spPr>
          <a:xfrm>
            <a:off x="4333875" y="1585595"/>
            <a:ext cx="834390" cy="26352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药物编码</a:t>
            </a:r>
            <a:endParaRPr lang="en-US" sz="13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5" name="Text 102"/>
          <p:cNvSpPr/>
          <p:nvPr/>
        </p:nvSpPr>
        <p:spPr>
          <a:xfrm>
            <a:off x="4298950" y="2343785"/>
            <a:ext cx="928370" cy="4445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B6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2048→192</a:t>
            </a:r>
            <a:endParaRPr lang="en-US" sz="1200" dirty="0">
              <a:solidFill>
                <a:srgbClr val="002B6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6" name="Text 103"/>
          <p:cNvSpPr/>
          <p:nvPr/>
        </p:nvSpPr>
        <p:spPr>
          <a:xfrm>
            <a:off x="4298315" y="2941320"/>
            <a:ext cx="913130" cy="26352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靶点编码</a:t>
            </a:r>
            <a:endParaRPr lang="en-US" sz="1300" b="1" dirty="0">
              <a:solidFill>
                <a:srgbClr val="009B9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7" name="Text 104"/>
          <p:cNvSpPr/>
          <p:nvPr/>
        </p:nvSpPr>
        <p:spPr>
          <a:xfrm>
            <a:off x="4298950" y="3698875"/>
            <a:ext cx="928370" cy="2921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B6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1024→192</a:t>
            </a:r>
            <a:endParaRPr lang="en-US" sz="1200" dirty="0">
              <a:solidFill>
                <a:srgbClr val="002B6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453547" y="1877356"/>
            <a:ext cx="247923" cy="2915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d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9" name="Text 106"/>
          <p:cNvSpPr/>
          <p:nvPr/>
        </p:nvSpPr>
        <p:spPr>
          <a:xfrm>
            <a:off x="5453547" y="3225634"/>
            <a:ext cx="247923" cy="2915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t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0" name="Text 107"/>
          <p:cNvSpPr/>
          <p:nvPr/>
        </p:nvSpPr>
        <p:spPr>
          <a:xfrm>
            <a:off x="6925310" y="4578350"/>
            <a:ext cx="2145665" cy="35687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pooled ESM2 auxiliary</a:t>
            </a:r>
            <a:endParaRPr lang="en-US" sz="1400" b="1" dirty="0">
              <a:solidFill>
                <a:srgbClr val="009B9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4" name="Text 111"/>
          <p:cNvSpPr/>
          <p:nvPr/>
        </p:nvSpPr>
        <p:spPr>
          <a:xfrm>
            <a:off x="6430645" y="1644015"/>
            <a:ext cx="2574290" cy="3130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B6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Pair interaction trunk</a:t>
            </a:r>
            <a:endParaRPr lang="en-US" sz="1600" b="1" dirty="0">
              <a:solidFill>
                <a:srgbClr val="002B6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6" name="Text 113"/>
          <p:cNvSpPr/>
          <p:nvPr/>
        </p:nvSpPr>
        <p:spPr>
          <a:xfrm>
            <a:off x="6736398" y="2118360"/>
            <a:ext cx="1940560" cy="56197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984-D pair representation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7" name="Text 114"/>
          <p:cNvSpPr/>
          <p:nvPr/>
        </p:nvSpPr>
        <p:spPr>
          <a:xfrm>
            <a:off x="6731635" y="3203575"/>
            <a:ext cx="1941195" cy="5416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256-D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representation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  <a:sym typeface="+mn-ea"/>
            </a:endParaRPr>
          </a:p>
        </p:txBody>
      </p:sp>
      <p:sp>
        <p:nvSpPr>
          <p:cNvPr id="138" name="Text 115"/>
          <p:cNvSpPr/>
          <p:nvPr/>
        </p:nvSpPr>
        <p:spPr>
          <a:xfrm>
            <a:off x="6953250" y="5426710"/>
            <a:ext cx="2161540" cy="3784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19-D </a:t>
            </a:r>
            <a:r>
              <a:rPr lang="zh-CN" altLang="en-US" sz="14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口袋结构</a:t>
            </a:r>
            <a:r>
              <a:rPr lang="zh-CN" altLang="en-US" sz="14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上下文</a:t>
            </a:r>
            <a:endParaRPr lang="zh-CN" altLang="en-US" sz="14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2" name="Text 119"/>
          <p:cNvSpPr/>
          <p:nvPr/>
        </p:nvSpPr>
        <p:spPr>
          <a:xfrm>
            <a:off x="9939655" y="1687830"/>
            <a:ext cx="1230630" cy="7067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Shared head</a:t>
            </a:r>
            <a:endParaRPr lang="en-US" sz="1200" b="1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3" name="Text 120"/>
          <p:cNvSpPr/>
          <p:nvPr/>
        </p:nvSpPr>
        <p:spPr>
          <a:xfrm>
            <a:off x="9939655" y="2606040"/>
            <a:ext cx="1224280" cy="721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6 Expert</a:t>
            </a:r>
            <a:endParaRPr lang="en-US" sz="1200" b="1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Heads</a:t>
            </a:r>
            <a:endParaRPr lang="en-US" sz="1200" b="1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5" name="Text 122"/>
          <p:cNvSpPr/>
          <p:nvPr/>
        </p:nvSpPr>
        <p:spPr>
          <a:xfrm>
            <a:off x="9939655" y="3560445"/>
            <a:ext cx="1240790" cy="7143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Cosine</a:t>
            </a:r>
            <a:endParaRPr 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similarity term</a:t>
            </a:r>
            <a:endParaRPr lang="en-US" sz="1200" b="1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6" name="Text 123"/>
          <p:cNvSpPr/>
          <p:nvPr/>
        </p:nvSpPr>
        <p:spPr>
          <a:xfrm>
            <a:off x="11304470" y="5026036"/>
            <a:ext cx="175005" cy="247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2B6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+</a:t>
            </a:r>
            <a:endParaRPr lang="en-US" sz="2000" dirty="0">
              <a:solidFill>
                <a:srgbClr val="002B6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7" name="Text 124"/>
          <p:cNvSpPr/>
          <p:nvPr/>
        </p:nvSpPr>
        <p:spPr>
          <a:xfrm>
            <a:off x="11081667" y="4413415"/>
            <a:ext cx="729187" cy="21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base_logit</a:t>
            </a: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185" name="直接连接符 184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116622" y="66388"/>
            <a:ext cx="8665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</a:rPr>
              <a:t>二、提出基于互作和结合口袋的老药新用</a:t>
            </a:r>
            <a:r>
              <a:rPr lang="en-US" altLang="zh-CN" sz="3200" b="1" dirty="0">
                <a:solidFill>
                  <a:srgbClr val="004E98"/>
                </a:solidFill>
              </a:rPr>
              <a:t>AI</a:t>
            </a:r>
            <a:r>
              <a:rPr lang="zh-CN" altLang="en-US" sz="3200" b="1" dirty="0">
                <a:solidFill>
                  <a:srgbClr val="004E98"/>
                </a:solidFill>
              </a:rPr>
              <a:t>工具</a:t>
            </a:r>
            <a:endParaRPr lang="zh-CN" altLang="en-US" sz="3200" b="1" dirty="0">
              <a:solidFill>
                <a:srgbClr val="004E98"/>
              </a:solidFill>
            </a:endParaRPr>
          </a:p>
        </p:txBody>
      </p:sp>
      <p:pic>
        <p:nvPicPr>
          <p:cNvPr id="191" name="图片 190" descr="标签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7445" y="4326255"/>
            <a:ext cx="546735" cy="546735"/>
          </a:xfrm>
          <a:prstGeom prst="rect">
            <a:avLst/>
          </a:prstGeom>
        </p:spPr>
      </p:pic>
      <p:pic>
        <p:nvPicPr>
          <p:cNvPr id="192" name="图片 191" descr="药物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17445" y="1746250"/>
            <a:ext cx="480695" cy="480695"/>
          </a:xfrm>
          <a:prstGeom prst="rect">
            <a:avLst/>
          </a:prstGeom>
        </p:spPr>
      </p:pic>
      <p:sp>
        <p:nvSpPr>
          <p:cNvPr id="198" name="文本框 197"/>
          <p:cNvSpPr txBox="1"/>
          <p:nvPr/>
        </p:nvSpPr>
        <p:spPr>
          <a:xfrm>
            <a:off x="10189845" y="6307455"/>
            <a:ext cx="17062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/>
              <a:t>湿实验推荐列表</a:t>
            </a:r>
            <a:endParaRPr lang="zh-CN" altLang="en-US" sz="1400" b="1"/>
          </a:p>
        </p:txBody>
      </p:sp>
      <p:sp>
        <p:nvSpPr>
          <p:cNvPr id="199" name="文本框 198"/>
          <p:cNvSpPr txBox="1"/>
          <p:nvPr/>
        </p:nvSpPr>
        <p:spPr>
          <a:xfrm>
            <a:off x="10189210" y="5964555"/>
            <a:ext cx="1706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/>
              <a:t>逐一药物靶点排序</a:t>
            </a:r>
            <a:endParaRPr lang="zh-CN" altLang="en-US" sz="1400" b="1"/>
          </a:p>
        </p:txBody>
      </p:sp>
      <p:sp>
        <p:nvSpPr>
          <p:cNvPr id="202" name="文本框 201"/>
          <p:cNvSpPr txBox="1"/>
          <p:nvPr/>
        </p:nvSpPr>
        <p:spPr>
          <a:xfrm>
            <a:off x="3379470" y="5964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依据</a:t>
            </a:r>
            <a:r>
              <a:rPr lang="zh-CN" altLang="en-US"/>
              <a:t>湿实验结果迭代</a:t>
            </a:r>
            <a:r>
              <a:rPr lang="zh-CN" altLang="en-US"/>
              <a:t>优化模型</a:t>
            </a:r>
            <a:endParaRPr lang="zh-CN" altLang="en-US"/>
          </a:p>
        </p:txBody>
      </p:sp>
      <p:sp>
        <p:nvSpPr>
          <p:cNvPr id="207" name="Shape 38"/>
          <p:cNvSpPr/>
          <p:nvPr/>
        </p:nvSpPr>
        <p:spPr>
          <a:xfrm>
            <a:off x="9686290" y="5170805"/>
            <a:ext cx="1483995" cy="635"/>
          </a:xfrm>
          <a:prstGeom prst="line">
            <a:avLst/>
          </a:prstGeom>
          <a:noFill/>
          <a:ln w="1524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212" name="Shape 45"/>
          <p:cNvSpPr/>
          <p:nvPr/>
        </p:nvSpPr>
        <p:spPr>
          <a:xfrm flipH="1" flipV="1">
            <a:off x="5409565" y="4061460"/>
            <a:ext cx="635" cy="598170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213" name="Shape 45"/>
          <p:cNvSpPr/>
          <p:nvPr/>
        </p:nvSpPr>
        <p:spPr>
          <a:xfrm flipV="1">
            <a:off x="3973195" y="4653280"/>
            <a:ext cx="1434465" cy="635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216" name="Shape 29"/>
          <p:cNvSpPr/>
          <p:nvPr/>
        </p:nvSpPr>
        <p:spPr>
          <a:xfrm rot="5400000">
            <a:off x="7520940" y="2936875"/>
            <a:ext cx="370840" cy="635"/>
          </a:xfrm>
          <a:prstGeom prst="line">
            <a:avLst/>
          </a:prstGeom>
          <a:noFill/>
          <a:ln w="1397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220" name="Shape 78"/>
          <p:cNvSpPr/>
          <p:nvPr/>
        </p:nvSpPr>
        <p:spPr>
          <a:xfrm>
            <a:off x="7240270" y="4144010"/>
            <a:ext cx="1381125" cy="33718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218" name="文本框 217"/>
          <p:cNvSpPr txBox="1"/>
          <p:nvPr/>
        </p:nvSpPr>
        <p:spPr>
          <a:xfrm>
            <a:off x="7240270" y="4144010"/>
            <a:ext cx="13811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目标嵌入增强</a:t>
            </a:r>
            <a:endParaRPr lang="zh-CN" altLang="en-US" sz="1400"/>
          </a:p>
        </p:txBody>
      </p:sp>
      <p:sp>
        <p:nvSpPr>
          <p:cNvPr id="221" name="Shape 45"/>
          <p:cNvSpPr/>
          <p:nvPr/>
        </p:nvSpPr>
        <p:spPr>
          <a:xfrm flipH="1" flipV="1">
            <a:off x="9688195" y="5168900"/>
            <a:ext cx="635" cy="450850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222" name="Shape 45"/>
          <p:cNvSpPr/>
          <p:nvPr/>
        </p:nvSpPr>
        <p:spPr>
          <a:xfrm flipV="1">
            <a:off x="9241790" y="5615940"/>
            <a:ext cx="444500" cy="635"/>
          </a:xfrm>
          <a:prstGeom prst="line">
            <a:avLst/>
          </a:prstGeom>
          <a:noFill/>
          <a:ln w="12700">
            <a:solidFill>
              <a:srgbClr val="0B4FB2"/>
            </a:solidFill>
            <a:prstDash val="solid"/>
          </a:ln>
        </p:spPr>
      </p:sp>
      <p:sp>
        <p:nvSpPr>
          <p:cNvPr id="223" name="Shape 38"/>
          <p:cNvSpPr/>
          <p:nvPr/>
        </p:nvSpPr>
        <p:spPr>
          <a:xfrm rot="5400000">
            <a:off x="11217275" y="5520055"/>
            <a:ext cx="356235" cy="8255"/>
          </a:xfrm>
          <a:prstGeom prst="line">
            <a:avLst/>
          </a:prstGeom>
          <a:noFill/>
          <a:ln w="15240">
            <a:solidFill>
              <a:srgbClr val="0B4FB2"/>
            </a:solidFill>
            <a:prstDash val="solid"/>
            <a:tailEnd type="triangle"/>
          </a:ln>
        </p:spPr>
      </p:sp>
      <p:sp>
        <p:nvSpPr>
          <p:cNvPr id="224" name="Shape 79"/>
          <p:cNvSpPr/>
          <p:nvPr/>
        </p:nvSpPr>
        <p:spPr>
          <a:xfrm>
            <a:off x="6824366" y="4116832"/>
            <a:ext cx="364593" cy="36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4FB2"/>
            </a:solidFill>
            <a:prstDash val="solid"/>
          </a:ln>
        </p:spPr>
      </p:sp>
      <p:sp>
        <p:nvSpPr>
          <p:cNvPr id="225" name="Text 123"/>
          <p:cNvSpPr/>
          <p:nvPr/>
        </p:nvSpPr>
        <p:spPr>
          <a:xfrm>
            <a:off x="6919160" y="4175136"/>
            <a:ext cx="175005" cy="247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2B6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+</a:t>
            </a:r>
            <a:endParaRPr lang="en-US" sz="2000" dirty="0">
              <a:solidFill>
                <a:srgbClr val="002B6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27" name="圆角右箭头 226"/>
          <p:cNvSpPr/>
          <p:nvPr/>
        </p:nvSpPr>
        <p:spPr>
          <a:xfrm rot="16200000">
            <a:off x="4697730" y="1179830"/>
            <a:ext cx="1427480" cy="9227820"/>
          </a:xfrm>
          <a:prstGeom prst="bentArrow">
            <a:avLst>
              <a:gd name="adj1" fmla="val 8540"/>
              <a:gd name="adj2" fmla="val 12566"/>
              <a:gd name="adj3" fmla="val 16548"/>
              <a:gd name="adj4" fmla="val 4375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9" name="Shape 53"/>
          <p:cNvSpPr/>
          <p:nvPr/>
        </p:nvSpPr>
        <p:spPr>
          <a:xfrm>
            <a:off x="187960" y="1439545"/>
            <a:ext cx="2005330" cy="3587115"/>
          </a:xfrm>
          <a:prstGeom prst="roundRect">
            <a:avLst>
              <a:gd name="adj" fmla="val 10957"/>
            </a:avLst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30" name="Text 4"/>
          <p:cNvSpPr/>
          <p:nvPr/>
        </p:nvSpPr>
        <p:spPr>
          <a:xfrm>
            <a:off x="187960" y="930275"/>
            <a:ext cx="1750695" cy="30607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数据来源</a:t>
            </a:r>
            <a:endParaRPr lang="en-US" sz="15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2" name="Text 95"/>
          <p:cNvSpPr/>
          <p:nvPr/>
        </p:nvSpPr>
        <p:spPr>
          <a:xfrm>
            <a:off x="187960" y="1439545"/>
            <a:ext cx="2005965" cy="40830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CHEMBL37</a:t>
            </a:r>
            <a:r>
              <a:rPr lang="zh-CN" altLang="en-US" sz="1200" b="1" dirty="0">
                <a:solidFill>
                  <a:srgbClr val="0B4FB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校准数据</a:t>
            </a:r>
            <a:endParaRPr lang="zh-CN" altLang="en-US" sz="1200" b="1" dirty="0">
              <a:solidFill>
                <a:srgbClr val="0B4FB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188595" y="3415030"/>
            <a:ext cx="2005330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pChEMBL≥6 </a:t>
            </a:r>
            <a:r>
              <a:rPr lang="zh-CN" altLang="en-US" sz="1400"/>
              <a:t>正样本</a:t>
            </a:r>
            <a:endParaRPr lang="zh-CN" altLang="en-US" sz="1400"/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ym typeface="+mn-ea"/>
              </a:rPr>
              <a:t>pChEMBL</a:t>
            </a:r>
            <a:r>
              <a:rPr lang="en-US" altLang="zh-CN" sz="1400"/>
              <a:t>≤5 </a:t>
            </a:r>
            <a:r>
              <a:rPr lang="zh-CN" altLang="en-US" sz="1400"/>
              <a:t>负样本</a:t>
            </a:r>
            <a:endParaRPr lang="zh-CN" altLang="en-US" sz="1400"/>
          </a:p>
        </p:txBody>
      </p:sp>
      <p:sp>
        <p:nvSpPr>
          <p:cNvPr id="235" name="文本框 234"/>
          <p:cNvSpPr txBox="1"/>
          <p:nvPr/>
        </p:nvSpPr>
        <p:spPr>
          <a:xfrm>
            <a:off x="187960" y="1931670"/>
            <a:ext cx="20059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人源、单蛋白</a:t>
            </a:r>
            <a:r>
              <a:rPr lang="en-US" altLang="zh-CN" sz="1400"/>
              <a:t> target</a:t>
            </a:r>
            <a:endParaRPr lang="en-US" altLang="zh-CN" sz="1400"/>
          </a:p>
        </p:txBody>
      </p:sp>
      <p:sp>
        <p:nvSpPr>
          <p:cNvPr id="236" name="文本框 235"/>
          <p:cNvSpPr txBox="1"/>
          <p:nvPr/>
        </p:nvSpPr>
        <p:spPr>
          <a:xfrm>
            <a:off x="187960" y="2423795"/>
            <a:ext cx="2005330" cy="31051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400"/>
              <a:t>只保留直接结合类</a:t>
            </a:r>
            <a:endParaRPr lang="zh-CN" altLang="en-US" sz="1400"/>
          </a:p>
        </p:txBody>
      </p:sp>
      <p:sp>
        <p:nvSpPr>
          <p:cNvPr id="237" name="文本框 236"/>
          <p:cNvSpPr txBox="1"/>
          <p:nvPr/>
        </p:nvSpPr>
        <p:spPr>
          <a:xfrm>
            <a:off x="188595" y="2957195"/>
            <a:ext cx="2005330" cy="30670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400"/>
              <a:t>过滤低质、明显重复</a:t>
            </a:r>
            <a:endParaRPr lang="zh-CN" altLang="en-US" sz="1400"/>
          </a:p>
        </p:txBody>
      </p:sp>
      <p:sp>
        <p:nvSpPr>
          <p:cNvPr id="238" name="文本框 237"/>
          <p:cNvSpPr txBox="1"/>
          <p:nvPr/>
        </p:nvSpPr>
        <p:spPr>
          <a:xfrm>
            <a:off x="187960" y="4241165"/>
            <a:ext cx="200533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400"/>
              <a:t>唯一 </a:t>
            </a:r>
            <a:r>
              <a:rPr lang="en-US" altLang="zh-CN" sz="1400"/>
              <a:t>drug–target pair</a:t>
            </a:r>
            <a:endParaRPr lang="en-US" altLang="zh-CN" sz="1400"/>
          </a:p>
          <a:p>
            <a:pPr algn="ctr"/>
            <a:r>
              <a:rPr lang="en-US" altLang="zh-CN" sz="1400"/>
              <a:t>86,674</a:t>
            </a:r>
            <a:endParaRPr lang="en-US" altLang="zh-CN" sz="1400"/>
          </a:p>
        </p:txBody>
      </p:sp>
      <p:sp>
        <p:nvSpPr>
          <p:cNvPr id="244" name="下箭头 243"/>
          <p:cNvSpPr/>
          <p:nvPr/>
        </p:nvSpPr>
        <p:spPr>
          <a:xfrm>
            <a:off x="1097280" y="2238375"/>
            <a:ext cx="188595" cy="217170"/>
          </a:xfrm>
          <a:prstGeom prst="downArrow">
            <a:avLst>
              <a:gd name="adj1" fmla="val 50000"/>
              <a:gd name="adj2" fmla="val 68686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7" name="下箭头 246"/>
          <p:cNvSpPr/>
          <p:nvPr/>
        </p:nvSpPr>
        <p:spPr>
          <a:xfrm>
            <a:off x="1097280" y="2752090"/>
            <a:ext cx="188595" cy="217170"/>
          </a:xfrm>
          <a:prstGeom prst="downArrow">
            <a:avLst>
              <a:gd name="adj1" fmla="val 50000"/>
              <a:gd name="adj2" fmla="val 68686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8" name="下箭头 247"/>
          <p:cNvSpPr/>
          <p:nvPr/>
        </p:nvSpPr>
        <p:spPr>
          <a:xfrm>
            <a:off x="1097280" y="3278505"/>
            <a:ext cx="188595" cy="217170"/>
          </a:xfrm>
          <a:prstGeom prst="downArrow">
            <a:avLst>
              <a:gd name="adj1" fmla="val 50000"/>
              <a:gd name="adj2" fmla="val 68686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9" name="下箭头 248"/>
          <p:cNvSpPr/>
          <p:nvPr/>
        </p:nvSpPr>
        <p:spPr>
          <a:xfrm>
            <a:off x="1097280" y="4061460"/>
            <a:ext cx="188595" cy="217170"/>
          </a:xfrm>
          <a:prstGeom prst="downArrow">
            <a:avLst>
              <a:gd name="adj1" fmla="val 50000"/>
              <a:gd name="adj2" fmla="val 68686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1" name="Shape 55"/>
          <p:cNvSpPr/>
          <p:nvPr/>
        </p:nvSpPr>
        <p:spPr>
          <a:xfrm>
            <a:off x="188595" y="5507990"/>
            <a:ext cx="1640840" cy="53721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0B2FF"/>
            </a:solidFill>
            <a:prstDash val="solid"/>
          </a:ln>
          <a:effectLst>
            <a:outerShdw blurRad="12700" dist="50800" dir="2700000" algn="bl" rotWithShape="0">
              <a:srgbClr val="D9E8FF">
                <a:alpha val="22000"/>
              </a:srgbClr>
            </a:outerShdw>
          </a:effectLst>
        </p:spPr>
      </p:sp>
      <p:sp>
        <p:nvSpPr>
          <p:cNvPr id="250" name="文本框 249"/>
          <p:cNvSpPr txBox="1"/>
          <p:nvPr/>
        </p:nvSpPr>
        <p:spPr>
          <a:xfrm>
            <a:off x="187960" y="5507990"/>
            <a:ext cx="1642110" cy="5365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/>
              <a:t>实验数据补充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48729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二、药物</a:t>
            </a:r>
            <a:r>
              <a:rPr lang="en-US" altLang="zh-CN" sz="32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</a:t>
            </a:r>
            <a:r>
              <a:rPr lang="zh-CN" altLang="en-US" sz="32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靶点亲和力检索</a:t>
            </a:r>
            <a:endParaRPr lang="zh-CN" altLang="en-US" sz="3200" b="1" dirty="0">
              <a:solidFill>
                <a:srgbClr val="004E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" y="841375"/>
            <a:ext cx="925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：利用模型，对药物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靶点对进行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相互作用评价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6188710" y="1805940"/>
          <a:ext cx="5591175" cy="2468880"/>
        </p:xfrm>
        <a:graphic>
          <a:graphicData uri="http://schemas.openxmlformats.org/drawingml/2006/table">
            <a:tbl>
              <a:tblPr/>
              <a:tblGrid>
                <a:gridCol w="1863725"/>
                <a:gridCol w="1863725"/>
                <a:gridCol w="1863725"/>
              </a:tblGrid>
              <a:tr h="355600">
                <a:tc>
                  <a:txBody>
                    <a:bodyPr/>
                    <a:p>
                      <a:pPr algn="l" fontAlgn="t"/>
                      <a:r>
                        <a:rPr lang="zh-CN" altLang="en-US" sz="1400" b="1" i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每药保留</a:t>
                      </a:r>
                      <a:endParaRPr lang="zh-CN" altLang="en-US" sz="1400" b="1" i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 i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Ours</a:t>
                      </a:r>
                      <a:r>
                        <a:rPr lang="zh-CN" altLang="en-US" sz="1400" b="1" i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找回</a:t>
                      </a:r>
                      <a:endParaRPr lang="zh-CN" altLang="en-US" sz="1400" b="1" i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1" i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Ours</a:t>
                      </a:r>
                      <a:r>
                        <a:rPr lang="zh-CN" altLang="en-US" sz="1400" b="1" i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召回率</a:t>
                      </a:r>
                      <a:endParaRPr lang="zh-CN" altLang="en-US" sz="1400" b="1" i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7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Top-1</a:t>
                      </a:r>
                      <a:endParaRPr lang="en-US" altLang="zh-CN" sz="1400" b="0" i="0">
                        <a:solidFill>
                          <a:srgbClr val="172B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171 / 807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21.2%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7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Top-5</a:t>
                      </a:r>
                      <a:endParaRPr lang="en-US" altLang="zh-CN" sz="1400" b="0" i="0">
                        <a:solidFill>
                          <a:srgbClr val="172B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348 / 807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43.1%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7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Top-10</a:t>
                      </a:r>
                      <a:endParaRPr lang="en-US" altLang="zh-CN" sz="1400" b="0" i="0">
                        <a:solidFill>
                          <a:srgbClr val="172B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422 / 807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52.3%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7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Top-20</a:t>
                      </a:r>
                      <a:endParaRPr lang="en-US" altLang="zh-CN" sz="1400" b="0" i="0">
                        <a:solidFill>
                          <a:srgbClr val="172B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485 / 807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60.1%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7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Top-50</a:t>
                      </a:r>
                      <a:endParaRPr lang="en-US" altLang="zh-CN" sz="1400" b="0" i="0">
                        <a:solidFill>
                          <a:srgbClr val="172B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563 / 807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69.8%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7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Top-100</a:t>
                      </a:r>
                      <a:endParaRPr lang="en-US" altLang="zh-CN" sz="1400" b="0" i="0">
                        <a:solidFill>
                          <a:srgbClr val="172B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633 / 807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6F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78.4%</a:t>
                      </a:r>
                      <a:endParaRPr lang="en-US" altLang="zh-CN" sz="1400" b="0" i="0">
                        <a:solidFill>
                          <a:srgbClr val="1F6F9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9377" marR="99377" marT="91757" marB="9175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8E3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189980" y="1355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2</a:t>
            </a:r>
            <a:r>
              <a:rPr lang="zh-CN" altLang="en-US" b="1"/>
              <a:t>、老药新用</a:t>
            </a:r>
            <a:r>
              <a:rPr lang="zh-CN" altLang="en-US" b="1"/>
              <a:t>语境下模型召回评价</a:t>
            </a:r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6189980" y="4590415"/>
            <a:ext cx="55899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对276,480个药物–靶点对全部评分，并以每个药物内部的384个靶点排名计算807个已知关系的</a:t>
            </a:r>
            <a:r>
              <a:rPr lang="en-US" altLang="zh-CN" sz="1600"/>
              <a:t>rediscovery recall</a:t>
            </a:r>
            <a:endParaRPr lang="en-US" altLang="zh-CN" sz="1600"/>
          </a:p>
        </p:txBody>
      </p:sp>
      <p:sp>
        <p:nvSpPr>
          <p:cNvPr id="17" name="文本框 16"/>
          <p:cNvSpPr txBox="1"/>
          <p:nvPr/>
        </p:nvSpPr>
        <p:spPr>
          <a:xfrm>
            <a:off x="260350" y="13538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</a:t>
            </a:r>
            <a:r>
              <a:rPr lang="zh-CN" altLang="en-US" b="1"/>
              <a:t>、模型能力横向对比</a:t>
            </a:r>
            <a:r>
              <a:rPr lang="en-US" altLang="zh-CN" b="1"/>
              <a:t> (micro-AUPRC)</a:t>
            </a:r>
            <a:endParaRPr lang="en-US" altLang="zh-CN" b="1"/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44805" y="1925955"/>
          <a:ext cx="5566410" cy="2559685"/>
        </p:xfrm>
        <a:graphic>
          <a:graphicData uri="http://schemas.openxmlformats.org/drawingml/2006/table">
            <a:tbl>
              <a:tblPr/>
              <a:tblGrid>
                <a:gridCol w="927735"/>
                <a:gridCol w="927735"/>
                <a:gridCol w="927735"/>
                <a:gridCol w="927735"/>
                <a:gridCol w="927735"/>
                <a:gridCol w="927735"/>
              </a:tblGrid>
              <a:tr h="375285">
                <a:tc>
                  <a:txBody>
                    <a:bodyPr/>
                    <a:p>
                      <a:pPr algn="ctr"/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协议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 </a:t>
                      </a: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rows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阳性比例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Ours</a:t>
                      </a:r>
                      <a:endParaRPr lang="en-US" altLang="zh-CN" sz="1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DTIAM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ConPLex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28345">
                <a:tc>
                  <a:txBody>
                    <a:bodyPr/>
                    <a:p>
                      <a:pPr algn="ctr"/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Scaffold-cold drug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86,673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0.531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0.9316</a:t>
                      </a:r>
                      <a:endParaRPr lang="en-US" altLang="zh-CN" sz="16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0.8829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0.6126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727710">
                <a:tc>
                  <a:txBody>
                    <a:bodyPr/>
                    <a:p>
                      <a:pPr algn="ctr"/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Temporal 2023–2025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7,839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0.563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0.8325</a:t>
                      </a:r>
                      <a:endParaRPr lang="en-US" altLang="zh-CN" sz="16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0.7957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0.5878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8345">
                <a:tc>
                  <a:txBody>
                    <a:bodyPr/>
                    <a:p>
                      <a:pPr algn="ctr"/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Old-drug entity-cold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2,556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0.138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0.5569</a:t>
                      </a:r>
                      <a:endParaRPr lang="en-US" altLang="zh-CN" sz="16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0.3988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0.3975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93040" y="4616450"/>
            <a:ext cx="5718175" cy="2011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600"/>
              <a:t>如果给模型一个训练期间从未见过的药物核心骨架，它能不能判断这个新骨架可能作用于哪些靶点？</a:t>
            </a:r>
            <a:endParaRPr lang="zh-CN" altLang="en-US" sz="1600"/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600"/>
              <a:t>如果模型只学习截至2022年已经知道的关系，它能否预测2023–2025年后来才第一次出现的药物–靶点关系？</a:t>
            </a:r>
            <a:endParaRPr lang="zh-CN" altLang="en-US" sz="1600"/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600"/>
              <a:t>如果训练时完全不让模型看到项目老药及其相同核心 </a:t>
            </a:r>
            <a:r>
              <a:rPr lang="en-US" altLang="zh-CN" sz="1600"/>
              <a:t>scaffold，</a:t>
            </a:r>
            <a:r>
              <a:rPr lang="zh-CN" altLang="en-US" sz="1600"/>
              <a:t>模型还能不能为这些老药正确排序靶点？</a:t>
            </a:r>
            <a:endParaRPr lang="zh-CN" altLang="en-US" sz="1600"/>
          </a:p>
        </p:txBody>
      </p:sp>
      <p:sp>
        <p:nvSpPr>
          <p:cNvPr id="21" name="文本框 20"/>
          <p:cNvSpPr txBox="1"/>
          <p:nvPr/>
        </p:nvSpPr>
        <p:spPr>
          <a:xfrm>
            <a:off x="6189980" y="5176520"/>
            <a:ext cx="5591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3</a:t>
            </a:r>
            <a:r>
              <a:rPr lang="zh-CN" altLang="en-US" b="1"/>
              <a:t>、依据高置信度、信息增益探索构建湿实验集合</a:t>
            </a:r>
            <a:endParaRPr lang="zh-CN" altLang="en-US" b="1"/>
          </a:p>
        </p:txBody>
      </p:sp>
      <p:sp>
        <p:nvSpPr>
          <p:cNvPr id="23" name="文本框 22"/>
          <p:cNvSpPr txBox="1"/>
          <p:nvPr/>
        </p:nvSpPr>
        <p:spPr>
          <a:xfrm>
            <a:off x="6189980" y="5598160"/>
            <a:ext cx="6002020" cy="1216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zh-CN" b="1"/>
              <a:t>288 </a:t>
            </a:r>
            <a:r>
              <a:rPr lang="zh-CN" altLang="en-US" b="1"/>
              <a:t>个</a:t>
            </a:r>
            <a:r>
              <a:rPr lang="en-US" altLang="zh-CN"/>
              <a:t> </a:t>
            </a:r>
            <a:r>
              <a:rPr lang="zh-CN" altLang="en-US"/>
              <a:t>模型分数高，优先追求首轮命中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zh-CN" b="1"/>
              <a:t>48 </a:t>
            </a:r>
            <a:r>
              <a:rPr lang="zh-CN" altLang="en-US" b="1"/>
              <a:t>个</a:t>
            </a:r>
            <a:r>
              <a:rPr lang="en-US" altLang="zh-CN"/>
              <a:t> </a:t>
            </a:r>
            <a:r>
              <a:rPr lang="zh-CN" altLang="en-US"/>
              <a:t>用于获得最大信息增益并更新模型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zh-CN" b="1"/>
              <a:t>48 </a:t>
            </a:r>
            <a:r>
              <a:rPr lang="zh-CN" altLang="en-US" b="1"/>
              <a:t>个</a:t>
            </a:r>
            <a:r>
              <a:rPr lang="en-US" altLang="zh-CN"/>
              <a:t> </a:t>
            </a:r>
            <a:r>
              <a:rPr lang="zh-CN" altLang="en-US"/>
              <a:t>用于判断信号是否具有靶点层面的可重复性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1110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E98"/>
                </a:solidFill>
              </a:rPr>
              <a:t>湿实验计划：表面等离子共振（</a:t>
            </a:r>
            <a:r>
              <a:rPr lang="en-US" altLang="zh-CN" sz="3200" b="1" dirty="0">
                <a:solidFill>
                  <a:srgbClr val="004E98"/>
                </a:solidFill>
              </a:rPr>
              <a:t>SPR</a:t>
            </a:r>
            <a:r>
              <a:rPr lang="zh-CN" altLang="en-US" sz="3200" b="1" dirty="0">
                <a:solidFill>
                  <a:srgbClr val="004E98"/>
                </a:solidFill>
              </a:rPr>
              <a:t>）筛选小分子</a:t>
            </a:r>
            <a:r>
              <a:rPr lang="en-US" altLang="zh-CN" sz="3200" b="1" dirty="0">
                <a:solidFill>
                  <a:srgbClr val="004E98"/>
                </a:solidFill>
              </a:rPr>
              <a:t>-</a:t>
            </a:r>
            <a:r>
              <a:rPr lang="zh-CN" altLang="en-US" sz="3200" b="1" dirty="0">
                <a:solidFill>
                  <a:srgbClr val="004E98"/>
                </a:solidFill>
              </a:rPr>
              <a:t>蛋白互作对</a:t>
            </a:r>
            <a:endParaRPr lang="zh-CN" altLang="en-US" sz="3200" b="1" dirty="0">
              <a:solidFill>
                <a:srgbClr val="004E98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05" y="1962785"/>
            <a:ext cx="1826260" cy="193548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rcRect t="12552" r="80567" b="61802"/>
          <a:stretch>
            <a:fillRect/>
          </a:stretch>
        </p:blipFill>
        <p:spPr>
          <a:xfrm>
            <a:off x="3651250" y="1216660"/>
            <a:ext cx="2595880" cy="150495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82930" y="4922520"/>
            <a:ext cx="1847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96</a:t>
            </a:r>
            <a:r>
              <a:rPr lang="zh-CN" altLang="en-US" b="1" dirty="0"/>
              <a:t>孔板全自动蛋白表达与纯化</a:t>
            </a:r>
            <a:endParaRPr lang="zh-CN" altLang="en-US" b="1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l="31778" t="12336" r="56385" b="62776"/>
          <a:stretch>
            <a:fillRect/>
          </a:stretch>
        </p:blipFill>
        <p:spPr>
          <a:xfrm>
            <a:off x="6247130" y="1216660"/>
            <a:ext cx="1581150" cy="14605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126990" y="4922520"/>
            <a:ext cx="1365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/>
              <a:t>单浓度初筛</a:t>
            </a:r>
            <a:endParaRPr lang="zh-CN" altLang="en-US" b="1"/>
          </a:p>
        </p:txBody>
      </p:sp>
      <p:sp>
        <p:nvSpPr>
          <p:cNvPr id="36" name="文本框 35"/>
          <p:cNvSpPr txBox="1"/>
          <p:nvPr/>
        </p:nvSpPr>
        <p:spPr>
          <a:xfrm>
            <a:off x="3277870" y="5384800"/>
            <a:ext cx="56337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C3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完成一组样品的亲和力与动力学等分析仅需</a:t>
            </a:r>
            <a:r>
              <a:rPr lang="en-US" altLang="zh-CN" b="1">
                <a:solidFill>
                  <a:srgbClr val="C3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3-5min</a:t>
            </a:r>
            <a:endParaRPr lang="en-US" altLang="zh-CN" b="1">
              <a:solidFill>
                <a:srgbClr val="C30C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836150" y="4831080"/>
            <a:ext cx="12757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/>
              <a:t>结果分析反筛验证</a:t>
            </a:r>
            <a:endParaRPr lang="zh-CN" altLang="en-US" b="1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180" y="2527935"/>
            <a:ext cx="774065" cy="68389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525" y="1308100"/>
            <a:ext cx="1287145" cy="93535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525" y="3502660"/>
            <a:ext cx="1262380" cy="89217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8430" y="1384935"/>
            <a:ext cx="1282065" cy="858520"/>
          </a:xfrm>
          <a:prstGeom prst="rect">
            <a:avLst/>
          </a:prstGeom>
        </p:spPr>
      </p:pic>
      <p:cxnSp>
        <p:nvCxnSpPr>
          <p:cNvPr id="43" name="直接连接符 42"/>
          <p:cNvCxnSpPr/>
          <p:nvPr/>
        </p:nvCxnSpPr>
        <p:spPr>
          <a:xfrm>
            <a:off x="9890760" y="2299970"/>
            <a:ext cx="219075" cy="262255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10611485" y="2299970"/>
            <a:ext cx="148590" cy="227965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9890760" y="3180715"/>
            <a:ext cx="175895" cy="2667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8430" y="3402330"/>
            <a:ext cx="1287145" cy="935355"/>
          </a:xfrm>
          <a:prstGeom prst="rect">
            <a:avLst/>
          </a:prstGeom>
        </p:spPr>
      </p:pic>
      <p:cxnSp>
        <p:nvCxnSpPr>
          <p:cNvPr id="61" name="直接连接符 60"/>
          <p:cNvCxnSpPr/>
          <p:nvPr/>
        </p:nvCxnSpPr>
        <p:spPr>
          <a:xfrm flipH="1" flipV="1">
            <a:off x="10645140" y="3183890"/>
            <a:ext cx="202565" cy="2578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5" name="图片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271576" y="2690879"/>
            <a:ext cx="1617980" cy="56007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7620816" y="2690879"/>
            <a:ext cx="1617980" cy="560070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735" y="2767965"/>
            <a:ext cx="1890395" cy="1986915"/>
          </a:xfrm>
          <a:prstGeom prst="rect">
            <a:avLst/>
          </a:prstGeom>
        </p:spPr>
      </p:pic>
      <p:sp>
        <p:nvSpPr>
          <p:cNvPr id="68" name="圆角矩形 67"/>
          <p:cNvSpPr/>
          <p:nvPr/>
        </p:nvSpPr>
        <p:spPr>
          <a:xfrm>
            <a:off x="3665855" y="824230"/>
            <a:ext cx="4293235" cy="404558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圆角矩形 68"/>
          <p:cNvSpPr/>
          <p:nvPr/>
        </p:nvSpPr>
        <p:spPr>
          <a:xfrm>
            <a:off x="8726805" y="823595"/>
            <a:ext cx="3239135" cy="404685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293370" y="907415"/>
            <a:ext cx="2426970" cy="396303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179705" y="5847080"/>
            <a:ext cx="115811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表面等离子体共振（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技术通过实时监测传感芯片表面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因分子特异性结合引发的折射率变化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，来实现无标记、动态地追踪分子间的结合与解离过程并测定亲和力常数。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3200" cy="717550"/>
          </a:xfrm>
          <a:prstGeom prst="rect">
            <a:avLst/>
          </a:prstGeom>
          <a:gradFill>
            <a:gsLst>
              <a:gs pos="86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">
                <a:srgbClr val="D3ECFF"/>
              </a:gs>
              <a:gs pos="38000">
                <a:srgbClr val="EDF7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717550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004E98"/>
                </a:gs>
                <a:gs pos="42000">
                  <a:schemeClr val="accent1"/>
                </a:gs>
                <a:gs pos="5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622" y="66388"/>
            <a:ext cx="60471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4E98"/>
                </a:solidFill>
                <a:sym typeface="+mn-ea"/>
              </a:rPr>
              <a:t>湿实验计划：</a:t>
            </a:r>
            <a:r>
              <a:rPr lang="zh-CN" altLang="en-US" sz="3200" b="1" dirty="0">
                <a:solidFill>
                  <a:srgbClr val="004E98"/>
                </a:solidFill>
              </a:rPr>
              <a:t>细胞</a:t>
            </a:r>
            <a:r>
              <a:rPr lang="en-US" altLang="zh-CN" sz="3200" b="1" dirty="0">
                <a:solidFill>
                  <a:srgbClr val="004E98"/>
                </a:solidFill>
              </a:rPr>
              <a:t>/</a:t>
            </a:r>
            <a:r>
              <a:rPr lang="zh-CN" altLang="en-US" sz="3200" b="1" dirty="0">
                <a:solidFill>
                  <a:srgbClr val="004E98"/>
                </a:solidFill>
              </a:rPr>
              <a:t>动物水平靶向</a:t>
            </a:r>
            <a:endParaRPr lang="zh-CN" altLang="en-US" sz="3200" b="1" dirty="0">
              <a:solidFill>
                <a:srgbClr val="004E98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16925" y="5525135"/>
            <a:ext cx="166878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动物疾病模型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39615" y="1617345"/>
            <a:ext cx="11055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r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肿瘤细胞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83845" y="1083310"/>
            <a:ext cx="5481955" cy="496697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6226175" y="1852930"/>
            <a:ext cx="5603240" cy="342709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415" y="2157730"/>
            <a:ext cx="1511935" cy="146240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8089900" y="3152775"/>
            <a:ext cx="7759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肿瘤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515" y="2157730"/>
            <a:ext cx="1828800" cy="140843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0374630" y="3152775"/>
            <a:ext cx="145542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阿兹海默症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35" y="4230370"/>
            <a:ext cx="1511935" cy="66040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830" y="4182745"/>
            <a:ext cx="1140460" cy="70802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8129270" y="4370070"/>
            <a:ext cx="7759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衰老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637520" y="4370070"/>
            <a:ext cx="9467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糖尿病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30" y="2098040"/>
            <a:ext cx="2261870" cy="20605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775" y="2098040"/>
            <a:ext cx="2204720" cy="20840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55745" y="4294505"/>
            <a:ext cx="158940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r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报告细胞模型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0510" y="2073910"/>
            <a:ext cx="549529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83845" y="4698365"/>
            <a:ext cx="549529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022090" y="5214620"/>
            <a:ext cx="162306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r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诱导细胞模型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" y="1395730"/>
            <a:ext cx="2173605" cy="58991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455" y="4816475"/>
            <a:ext cx="713740" cy="9105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9215" y="4816475"/>
            <a:ext cx="664845" cy="93662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1471295" y="5122545"/>
            <a:ext cx="122999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12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化学诱导损伤</a:t>
            </a:r>
            <a:endParaRPr lang="zh-CN" altLang="en-US" sz="1200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1574800" y="5405120"/>
            <a:ext cx="934720" cy="8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2056765" y="6120765"/>
            <a:ext cx="21723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疾病相关细胞模型</a:t>
            </a:r>
            <a:endParaRPr lang="zh-CN" altLang="en-US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50059535&quot;,&quot;origin&quot;:0,&quot;type&quot;:&quot;icons&quot;,&quot;user&quot;:&quot;1743770011&quot;}"/>
</p:tagLst>
</file>

<file path=ppt/tags/tag2.xml><?xml version="1.0" encoding="utf-8"?>
<p:tagLst xmlns:p="http://schemas.openxmlformats.org/presentationml/2006/main">
  <p:tag name="KSO_DOCER_RESOURCE_TRACE_INFO" val="{&quot;id&quot;:&quot;50020773&quot;,&quot;origin&quot;:0,&quot;type&quot;:&quot;icons&quot;,&quot;user&quot;:&quot;1743770011&quot;}"/>
</p:tagLst>
</file>

<file path=ppt/tags/tag3.xml><?xml version="1.0" encoding="utf-8"?>
<p:tagLst xmlns:p="http://schemas.openxmlformats.org/presentationml/2006/main">
  <p:tag name="TABLE_ENDDRAG_ORIGIN_RECT" val="769*193"/>
  <p:tag name="TABLE_ENDDRAG_RECT" val="67*173*769*193"/>
</p:tagLst>
</file>

<file path=ppt/tags/tag4.xml><?xml version="1.0" encoding="utf-8"?>
<p:tagLst xmlns:p="http://schemas.openxmlformats.org/presentationml/2006/main">
  <p:tag name="TABLE_ENDDRAG_ORIGIN_RECT" val="438*201"/>
  <p:tag name="TABLE_ENDDRAG_RECT" val="27*151*438*201"/>
</p:tagLst>
</file>

<file path=ppt/tags/tag5.xml><?xml version="1.0" encoding="utf-8"?>
<p:tagLst xmlns:p="http://schemas.openxmlformats.org/presentationml/2006/main">
  <p:tag name="resource_record_key" val="{&quot;10&quot;:[50059535,5002077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3702</Words>
  <Application>WPS 演示</Application>
  <PresentationFormat>宽屏</PresentationFormat>
  <Paragraphs>545</Paragraphs>
  <Slides>12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Noto Sans SC</vt:lpstr>
      <vt:lpstr>Wingdings</vt:lpstr>
      <vt:lpstr>Arial</vt:lpstr>
      <vt:lpstr>Calibri</vt:lpstr>
      <vt:lpstr>Arial Unicode MS</vt:lpstr>
      <vt:lpstr>等线</vt:lpstr>
      <vt:lpstr>Noto Sans CJK SC</vt:lpstr>
      <vt:lpstr>Noto Sans</vt:lpstr>
      <vt:lpstr>Noto Sans CJK SC</vt:lpstr>
      <vt:lpstr>Noto Sans CJK SC</vt:lpstr>
      <vt:lpstr>MS PGothic</vt:lpstr>
      <vt:lpstr>Saturday Sans Regular</vt:lpstr>
      <vt:lpstr>Arial</vt:lpstr>
      <vt:lpstr>Arial</vt:lpstr>
      <vt:lpstr>Inter</vt:lpstr>
      <vt:lpstr>Helsinki Metronome Std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章秋爽</dc:creator>
  <cp:lastModifiedBy>邱江杰(2025311052)</cp:lastModifiedBy>
  <cp:revision>87</cp:revision>
  <dcterms:created xsi:type="dcterms:W3CDTF">2023-08-09T12:44:00Z</dcterms:created>
  <dcterms:modified xsi:type="dcterms:W3CDTF">2026-08-18T14:31:28Z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8F1FB44124454F938295708CE126FF70_13</vt:lpwstr>
  </property>
</Properties>
</file>